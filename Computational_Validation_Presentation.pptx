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A237E"/>
                </a:solidFill>
              </a:rPr>
              <a:t>Computational Validation of</a:t>
            </a:r>
          </a:p>
          <a:p>
            <a:r>
              <a:rPr>
                <a:solidFill>
                  <a:srgbClr val="1A237E"/>
                </a:solidFill>
              </a:rPr>
              <a:t>FMC63-CD19 Interface Residue Selection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A237E"/>
                </a:solidFill>
              </a:rPr>
              <a:t>Manpreet Kour | PI: Dr. Kausik Chakraborty | Co-PI: Dr. Ankesh Kumar Jaiswal</a:t>
            </a:r>
          </a:p>
          <a:p>
            <a:r>
              <a:rPr>
                <a:solidFill>
                  <a:srgbClr val="1A237E"/>
                </a:solidFill>
              </a:rPr>
              <a:t>CSIR-IGIB | AcSIR</a:t>
            </a:r>
          </a:p>
          <a:p/>
          <a:p>
            <a:r>
              <a:rPr>
                <a:solidFill>
                  <a:srgbClr val="1A237E"/>
                </a:solidFill>
              </a:rPr>
              <a:t>Structure: PDB 7URV (Singh et al., 2023, Science Immunology)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237E"/>
                </a:solidFill>
              </a:rPr>
              <a:t>Computational Validation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/>
            </a:pPr>
            <a:r>
              <a:t>Question: Are Tyr260, Tyr261, Ser214 the right residues to mutate?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Two independent validation approaches: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Approach 1: Structural Analysis (BioPython + FreeSASA)</a:t>
            </a:r>
          </a:p>
          <a:p>
            <a:pPr>
              <a:defRPr sz="1400"/>
            </a:pPr>
            <a:r>
              <a:t>• Contact mapping — which residues touch CD19?</a:t>
            </a:r>
          </a:p>
          <a:p>
            <a:pPr>
              <a:defRPr sz="1400"/>
            </a:pPr>
            <a:r>
              <a:t>• Hydrogen bond identification — which contacts are strongest?</a:t>
            </a:r>
          </a:p>
          <a:p>
            <a:pPr>
              <a:defRPr sz="1400"/>
            </a:pPr>
            <a:r>
              <a:t>• Buried surface area — how much interface does each residue contribute?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Approach 2: Machine Learning Prediction (mCSM-AB2)</a:t>
            </a:r>
          </a:p>
          <a:p>
            <a:pPr>
              <a:defRPr sz="1400"/>
            </a:pPr>
            <a:r>
              <a:t>• Predicts ΔΔG (change in binding free energy) for each mutation</a:t>
            </a:r>
          </a:p>
          <a:p>
            <a:pPr>
              <a:defRPr sz="1400"/>
            </a:pPr>
            <a:r>
              <a:t>• Trained on 1,810 antibody-antigen mutations (Myung et al., 2020, PMID: 31665262)</a:t>
            </a:r>
          </a:p>
          <a:p>
            <a:pPr>
              <a:defRPr sz="1400"/>
            </a:pPr>
            <a:r>
              <a:t>• Accuracy: Pearson r = 0.73-0.74 on blind tests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Both validated against published experimental data:</a:t>
            </a:r>
          </a:p>
          <a:p>
            <a:pPr>
              <a:defRPr sz="1400"/>
            </a:pPr>
            <a:r>
              <a:t>• Y260A → no binding (Singh et al., 2023, Science Immunology)</a:t>
            </a:r>
          </a:p>
          <a:p>
            <a:pPr>
              <a:defRPr sz="1400"/>
            </a:pPr>
            <a:r>
              <a:t>• Y261A → KD = 682.5 nM, 152× weaker (Singh et al., 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</a:defRPr>
            </a:pPr>
            <a:r>
              <a:t>Target Residues Dominate the Binding Interface</a:t>
            </a:r>
          </a:p>
        </p:txBody>
      </p:sp>
      <p:pic>
        <p:nvPicPr>
          <p:cNvPr id="4" name="Picture 3" descr="interface_buri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18" y="914400"/>
            <a:ext cx="8947059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4 target residues = 51.2% of total FMC63 interface buried area (322/629 Å²). FreeSASA on PDB 7URV.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</a:defRPr>
            </a:pPr>
            <a:r>
              <a:t>Detailed Contacts at Target Residues</a:t>
            </a:r>
          </a:p>
        </p:txBody>
      </p:sp>
      <p:pic>
        <p:nvPicPr>
          <p:cNvPr id="4" name="Picture 3" descr="target_residue_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291" y="914400"/>
            <a:ext cx="579311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Green = H-bonds (&lt; 3.5 Å). Blue = van der Waals (&lt; 4.5 Å). Exp. KD from Singh et al., 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237E"/>
                </a:solidFill>
              </a:rPr>
              <a:t>H-Bond Analysis Explains Published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/>
            </a:pPr>
            <a:r>
              <a:t>Critical insight: Side-chain H-bonds are destroyed by Ala mutation,</a:t>
            </a:r>
          </a:p>
          <a:p>
            <a:pPr>
              <a:defRPr sz="1500" b="1"/>
            </a:pPr>
            <a:r>
              <a:t>backbone H-bonds are preserved.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TYR260 → Ala:</a:t>
            </a:r>
          </a:p>
          <a:p>
            <a:pPr>
              <a:defRPr sz="1400"/>
            </a:pPr>
            <a:r>
              <a:t>• Side-chain OH forms H-bond to Ile166.N (2.96 Å) — DESTROYED by Ala</a:t>
            </a:r>
          </a:p>
          <a:p>
            <a:pPr>
              <a:defRPr sz="1400"/>
            </a:pPr>
            <a:r>
              <a:t>• Result: NO DETECTABLE BINDING (Singh et al., 2023)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TYR261 → Ala:</a:t>
            </a:r>
          </a:p>
          <a:p>
            <a:pPr>
              <a:defRPr sz="1400"/>
            </a:pPr>
            <a:r>
              <a:t>• H-bond is through backbone N to Pro219.O (3.20 Å) — PRESERVED in Ala</a:t>
            </a:r>
          </a:p>
          <a:p>
            <a:pPr>
              <a:defRPr sz="1400"/>
            </a:pPr>
            <a:r>
              <a:t>• Result: KD = 682.5 nM, 152× weaker but not abolished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TYR70 → Ala:</a:t>
            </a:r>
          </a:p>
          <a:p>
            <a:pPr>
              <a:defRPr sz="1400"/>
            </a:pPr>
            <a:r>
              <a:t>• No H-bonds, only van der Waals contacts</a:t>
            </a:r>
          </a:p>
          <a:p>
            <a:pPr>
              <a:defRPr sz="1400"/>
            </a:pPr>
            <a:r>
              <a:t>• Result: KD = 275.3 nM, 61× weaker (mildest effect)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SER214 → Ala (PREDICTION):</a:t>
            </a:r>
          </a:p>
          <a:p>
            <a:pPr>
              <a:defRPr sz="1400"/>
            </a:pPr>
            <a:r>
              <a:t>• Side-chain OG H-bond to Pro222.O (2.61 Å) — WILL BE DESTROYED</a:t>
            </a:r>
          </a:p>
          <a:p>
            <a:pPr>
              <a:defRPr sz="1400"/>
            </a:pPr>
            <a:r>
              <a:t>• Backbone O H-bond to Lys223.NZ (3.14 Å) — will be PRESERVED</a:t>
            </a:r>
          </a:p>
          <a:p>
            <a:pPr>
              <a:defRPr sz="1400"/>
            </a:pPr>
            <a:r>
              <a:t>• Our prediction: significant but not catastrophic affinity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</a:defRPr>
            </a:pPr>
            <a:r>
              <a:t>mCSM-AB2 Predicted ΔΔG for 18 Mutations</a:t>
            </a:r>
          </a:p>
        </p:txBody>
      </p:sp>
      <p:pic>
        <p:nvPicPr>
          <p:cNvPr id="4" name="Picture 3" descr="mcsm_ab2_ddg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14400"/>
            <a:ext cx="10972800" cy="4822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All predictions High confidence. Negative ΔΔG = decreased affinity. Red dashed line = -2.0 kcal/mol hotspot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237E"/>
                </a:solidFill>
              </a:rPr>
              <a:t>Interpretation of mCSM-AB2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/>
            </a:pPr>
            <a:r>
              <a:t>Three positions, three different stories: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SER214 — THE FINE-TUNER (ΔΔG: -0.91 to +0.90 kcal/mol)</a:t>
            </a:r>
          </a:p>
          <a:p>
            <a:pPr>
              <a:defRPr sz="1400"/>
            </a:pPr>
            <a:r>
              <a:t>• All mutations produce SUBTLE effects — none are hotspots</a:t>
            </a:r>
          </a:p>
          <a:p>
            <a:pPr>
              <a:defRPr sz="1400"/>
            </a:pPr>
            <a:r>
              <a:t>• S214D predicted to INCREASE affinity (+0.90) — potential gain-of-function</a:t>
            </a:r>
          </a:p>
          <a:p>
            <a:pPr>
              <a:defRPr sz="1400"/>
            </a:pPr>
            <a:r>
              <a:t>• Ideal for mapping the affinity-function relationship in the 'tunable zone'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TYR260 — THE CRITICAL ANCHOR (ΔΔG: -2.88 to -4.79 kcal/mol)</a:t>
            </a:r>
          </a:p>
          <a:p>
            <a:pPr>
              <a:defRPr sz="1400"/>
            </a:pPr>
            <a:r>
              <a:t>• ALL 6 mutations are hotspots — tyrosine is irreplaceable here</a:t>
            </a:r>
          </a:p>
          <a:p>
            <a:pPr>
              <a:defRPr sz="1400"/>
            </a:pPr>
            <a:r>
              <a:t>• Y260A prediction (-4.79) matches published 'no binding' result</a:t>
            </a:r>
          </a:p>
          <a:p>
            <a:pPr>
              <a:defRPr sz="1400"/>
            </a:pPr>
            <a:r>
              <a:t>• Y260 is in CDR-H3 (Chothia H98) — the most important CDR loop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TYR261 — THE MAJOR CONTRIBUTOR (ΔΔG: -2.33 to -4.95 kcal/mol)</a:t>
            </a:r>
          </a:p>
          <a:p>
            <a:pPr>
              <a:defRPr sz="1400"/>
            </a:pPr>
            <a:r>
              <a:t>• ALL 6 mutations are hotspots, but with wider dynamic range</a:t>
            </a:r>
          </a:p>
          <a:p>
            <a:pPr>
              <a:defRPr sz="1400"/>
            </a:pPr>
            <a:r>
              <a:t>• Y261K is least severe (-2.33) — lysine partially compensates</a:t>
            </a:r>
          </a:p>
          <a:p>
            <a:pPr>
              <a:defRPr sz="1400"/>
            </a:pPr>
            <a:r>
              <a:t>• Y261A prediction (-4.95) matches published 152× weaker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</a:defRPr>
            </a:pPr>
            <a:r>
              <a:t>Interface Burial Correlates with Binding Contribution</a:t>
            </a:r>
          </a:p>
        </p:txBody>
      </p:sp>
      <p:pic>
        <p:nvPicPr>
          <p:cNvPr id="4" name="Picture 3" descr="burial_vs_aff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311" y="914400"/>
            <a:ext cx="756307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dSASA from FreeSASA. KD from Singh et al., 2023. Ser214 not yet tested experimentally.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</a:defRPr>
            </a:pPr>
            <a:r>
              <a:t>Published FMC63 Affinity Variants Validate Target Residues</a:t>
            </a:r>
          </a:p>
        </p:txBody>
      </p:sp>
      <p:pic>
        <p:nvPicPr>
          <p:cNvPr id="4" name="Picture 3" descr="fmc63_variant_affi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072" y="914400"/>
            <a:ext cx="724955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Data: Singh et al., 2023, Science Immunology (PMC10228544). Seigner et al., 2023, Sci Rep (PMC10754921).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237E"/>
                </a:solidFill>
              </a:defRPr>
            </a:pPr>
            <a:r>
              <a:t>PhD Project Timeline</a:t>
            </a:r>
          </a:p>
        </p:txBody>
      </p:sp>
      <p:pic>
        <p:nvPicPr>
          <p:cNvPr id="4" name="Picture 3" descr="projec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291" y="914400"/>
            <a:ext cx="843511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888888"/>
                </a:solidFill>
              </a:defRPr>
            </a:pPr>
            <a:r>
              <a:t>Timeline is approximate. DAC meetings marked in 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237E"/>
                </a:solidFill>
              </a:rPr>
              <a:t>Conclusions: Computational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/>
            </a:pPr>
            <a:r>
              <a:t>Three independent approaches converge: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1. Structural analysis (contacts, SASA, H-bonds):</a:t>
            </a:r>
          </a:p>
          <a:p>
            <a:pPr>
              <a:defRPr sz="1400"/>
            </a:pPr>
            <a:r>
              <a:t>  • Target residues are the top 4 most-connected at the interface</a:t>
            </a:r>
          </a:p>
          <a:p>
            <a:pPr>
              <a:defRPr sz="1400"/>
            </a:pPr>
            <a:r>
              <a:t>  • They account for 51.2% of total buried surface area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2. Machine learning prediction (mCSM-AB2):</a:t>
            </a:r>
          </a:p>
          <a:p>
            <a:pPr>
              <a:defRPr sz="1400"/>
            </a:pPr>
            <a:r>
              <a:t>  • Y260 and Y261 are critical hotspots (all mutations severe)</a:t>
            </a:r>
          </a:p>
          <a:p>
            <a:pPr>
              <a:defRPr sz="1400"/>
            </a:pPr>
            <a:r>
              <a:t>  • S214 tolerates mutations — ideal for affinity fine-tuning</a:t>
            </a:r>
          </a:p>
          <a:p>
            <a:pPr>
              <a:defRPr sz="1400"/>
            </a:pPr>
            <a:r>
              <a:t>  • S214D may enhance affinity (+0.90 kcal/mol)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3. Published experimental data (Singh et al., 2023):</a:t>
            </a:r>
          </a:p>
          <a:p>
            <a:pPr>
              <a:defRPr sz="1400"/>
            </a:pPr>
            <a:r>
              <a:t>  • Y260A = no binding; Y261A = 152× weaker; Y70A = 61× weaker</a:t>
            </a:r>
          </a:p>
          <a:p>
            <a:pPr>
              <a:defRPr sz="1400"/>
            </a:pPr>
            <a:r>
              <a:t>  • Predictions match experiments, validating our approach</a:t>
            </a:r>
          </a:p>
          <a:p>
            <a:pPr>
              <a:defRPr sz="600"/>
            </a:pPr>
          </a:p>
          <a:p>
            <a:pPr>
              <a:defRPr sz="1500" b="1"/>
            </a:pPr>
            <a:r>
              <a:t>Ser214 is the most exciting target — no published data exists,</a:t>
            </a:r>
          </a:p>
          <a:p>
            <a:pPr>
              <a:defRPr sz="1500" b="1"/>
            </a:pPr>
            <a:r>
              <a:t>and computational predictions suggest a tunable affinity range.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237E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44444"/>
                </a:solidFill>
              </a:defRPr>
            </a:pPr>
            <a:r>
              <a:t>PI: Dr. Kausik Chakraborty | Co-PI: Dr. Ankesh Kumar Jaiswal</a:t>
            </a:r>
          </a:p>
          <a:p>
            <a:pPr algn="ctr">
              <a:defRPr sz="1600">
                <a:solidFill>
                  <a:srgbClr val="444444"/>
                </a:solidFill>
              </a:defRPr>
            </a:pPr>
            <a:r>
              <a:t>Manpreet Kour | CSIR-IGIB | AcSIR Reg. 10BB25J02028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