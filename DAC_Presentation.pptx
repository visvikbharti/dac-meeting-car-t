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914400"/>
            <a:ext cx="10058400" cy="1371600"/>
          </a:xfrm>
          <a:prstGeom prst="rect">
            <a:avLst/>
          </a:prstGeom>
          <a:noFill/>
        </p:spPr>
        <p:txBody>
          <a:bodyPr wrap="square">
            <a:spAutoFit/>
          </a:bodyPr>
          <a:lstStyle/>
          <a:p>
            <a:pPr algn="ctr">
              <a:defRPr sz="3200" b="1">
                <a:solidFill>
                  <a:srgbClr val="FFFFFF"/>
                </a:solidFill>
                <a:latin typeface="Calibri"/>
              </a:defRPr>
            </a:pPr>
            <a:r>
              <a:t>Advancing CAR-T Cell Therapy by Understanding</a:t>
            </a:r>
            <a:br/>
            <a:r>
              <a:t>the Kinetics of Ag-Ab Interaction Parameters</a:t>
            </a:r>
          </a:p>
        </p:txBody>
      </p:sp>
      <p:sp>
        <p:nvSpPr>
          <p:cNvPr id="3" name="TextBox 2"/>
          <p:cNvSpPr txBox="1"/>
          <p:nvPr/>
        </p:nvSpPr>
        <p:spPr>
          <a:xfrm>
            <a:off x="914400" y="2743200"/>
            <a:ext cx="10058400" cy="457200"/>
          </a:xfrm>
          <a:prstGeom prst="rect">
            <a:avLst/>
          </a:prstGeom>
          <a:noFill/>
        </p:spPr>
        <p:txBody>
          <a:bodyPr wrap="square">
            <a:spAutoFit/>
          </a:bodyPr>
          <a:lstStyle/>
          <a:p>
            <a:pPr algn="ctr">
              <a:defRPr sz="2200" b="1">
                <a:solidFill>
                  <a:srgbClr val="FFD54F"/>
                </a:solidFill>
                <a:latin typeface="Calibri"/>
              </a:defRPr>
            </a:pPr>
            <a:r>
              <a:t>First DAC Meeting</a:t>
            </a:r>
          </a:p>
        </p:txBody>
      </p:sp>
      <p:sp>
        <p:nvSpPr>
          <p:cNvPr id="4" name="TextBox 3"/>
          <p:cNvSpPr txBox="1"/>
          <p:nvPr/>
        </p:nvSpPr>
        <p:spPr>
          <a:xfrm>
            <a:off x="914400" y="3657600"/>
            <a:ext cx="5029200" cy="2286000"/>
          </a:xfrm>
          <a:prstGeom prst="rect">
            <a:avLst/>
          </a:prstGeom>
          <a:noFill/>
        </p:spPr>
        <p:txBody>
          <a:bodyPr wrap="square">
            <a:spAutoFit/>
          </a:bodyPr>
          <a:lstStyle/>
          <a:p>
            <a:pPr algn="ctr">
              <a:defRPr sz="1600" b="0">
                <a:solidFill>
                  <a:srgbClr val="FFFFFF"/>
                </a:solidFill>
                <a:latin typeface="Calibri"/>
              </a:defRPr>
            </a:pPr>
            <a:r>
              <a:t>Presented by:</a:t>
            </a:r>
            <a:br/>
            <a:r>
              <a:t>Manpreet Kour</a:t>
            </a:r>
            <a:br/>
            <a:r>
              <a:t>PhD Scholar, CSIR-IGIB</a:t>
            </a:r>
            <a:br/>
            <a:r>
              <a:t>AcSIR Reg. - 10BB25J02028</a:t>
            </a:r>
          </a:p>
        </p:txBody>
      </p:sp>
      <p:sp>
        <p:nvSpPr>
          <p:cNvPr id="5" name="TextBox 4"/>
          <p:cNvSpPr txBox="1"/>
          <p:nvPr/>
        </p:nvSpPr>
        <p:spPr>
          <a:xfrm>
            <a:off x="5943600" y="3657600"/>
            <a:ext cx="5029200" cy="2286000"/>
          </a:xfrm>
          <a:prstGeom prst="rect">
            <a:avLst/>
          </a:prstGeom>
          <a:noFill/>
        </p:spPr>
        <p:txBody>
          <a:bodyPr wrap="square">
            <a:spAutoFit/>
          </a:bodyPr>
          <a:lstStyle/>
          <a:p>
            <a:pPr algn="ctr">
              <a:defRPr sz="1600" b="0">
                <a:solidFill>
                  <a:srgbClr val="FFFFFF"/>
                </a:solidFill>
                <a:latin typeface="Calibri"/>
              </a:defRPr>
            </a:pPr>
            <a:r>
              <a:t>Principal Investigator:</a:t>
            </a:r>
            <a:br/>
            <a:r>
              <a:t>Dr. Kausik Chakraborty</a:t>
            </a:r>
            <a:br/>
            <a:r>
              <a:t>Co-Principal Investigator:</a:t>
            </a:r>
            <a:br/>
            <a:r>
              <a:t>Dr. Ankesh Kumar Jaiswal</a:t>
            </a:r>
          </a:p>
        </p:txBody>
      </p:sp>
      <p:sp>
        <p:nvSpPr>
          <p:cNvPr id="6" name="TextBox 5"/>
          <p:cNvSpPr txBox="1"/>
          <p:nvPr/>
        </p:nvSpPr>
        <p:spPr>
          <a:xfrm>
            <a:off x="914400" y="5760720"/>
            <a:ext cx="10058400" cy="731520"/>
          </a:xfrm>
          <a:prstGeom prst="rect">
            <a:avLst/>
          </a:prstGeom>
          <a:noFill/>
        </p:spPr>
        <p:txBody>
          <a:bodyPr wrap="square">
            <a:spAutoFit/>
          </a:bodyPr>
          <a:lstStyle/>
          <a:p>
            <a:pPr algn="ctr">
              <a:defRPr sz="1400" b="0">
                <a:solidFill>
                  <a:srgbClr val="BBDEFB"/>
                </a:solidFill>
                <a:latin typeface="Calibri"/>
              </a:defRPr>
            </a:pPr>
            <a:r>
              <a:t>DAC Members: Dr. Arpan Parichha | Dr. Chetana Sachidanandan | Dr. Sheetal Gandotra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Presentation Outline</a:t>
            </a:r>
          </a:p>
        </p:txBody>
      </p:sp>
      <p:sp>
        <p:nvSpPr>
          <p:cNvPr id="3" name="TextBox 2"/>
          <p:cNvSpPr txBox="1"/>
          <p:nvPr/>
        </p:nvSpPr>
        <p:spPr>
          <a:xfrm>
            <a:off x="914400" y="1188720"/>
            <a:ext cx="10058400" cy="5029200"/>
          </a:xfrm>
          <a:prstGeom prst="rect">
            <a:avLst/>
          </a:prstGeom>
          <a:noFill/>
        </p:spPr>
        <p:txBody>
          <a:bodyPr wrap="square">
            <a:spAutoFit/>
          </a:bodyPr>
          <a:lstStyle/>
          <a:p>
            <a:pPr>
              <a:spcAft>
                <a:spcPts val="600"/>
              </a:spcAft>
              <a:defRPr sz="2000">
                <a:solidFill>
                  <a:srgbClr val="333333"/>
                </a:solidFill>
                <a:latin typeface="Calibri"/>
              </a:defRPr>
            </a:pPr>
            <a:r>
              <a:t>1.  Background: Evolution of Cancer Therapeutics</a:t>
            </a:r>
          </a:p>
          <a:p>
            <a:pPr>
              <a:spcAft>
                <a:spcPts val="600"/>
              </a:spcAft>
              <a:defRPr sz="2000">
                <a:solidFill>
                  <a:srgbClr val="333333"/>
                </a:solidFill>
                <a:latin typeface="Calibri"/>
              </a:defRPr>
            </a:pPr>
            <a:r>
              <a:t>2.  T Cell Receptor Complex &amp; Signaling</a:t>
            </a:r>
          </a:p>
          <a:p>
            <a:pPr>
              <a:spcAft>
                <a:spcPts val="600"/>
              </a:spcAft>
              <a:defRPr sz="2000">
                <a:solidFill>
                  <a:srgbClr val="333333"/>
                </a:solidFill>
                <a:latin typeface="Calibri"/>
              </a:defRPr>
            </a:pPr>
            <a:r>
              <a:t>3.  TCR-pMHC Binding Kinetics: KD, kon, koff</a:t>
            </a:r>
          </a:p>
          <a:p>
            <a:pPr>
              <a:spcAft>
                <a:spcPts val="600"/>
              </a:spcAft>
              <a:defRPr sz="2000">
                <a:solidFill>
                  <a:srgbClr val="333333"/>
                </a:solidFill>
                <a:latin typeface="Calibri"/>
              </a:defRPr>
            </a:pPr>
            <a:r>
              <a:t>4.  Kinetic Proofreading &amp; Optimal Dwell Time</a:t>
            </a:r>
          </a:p>
          <a:p>
            <a:pPr>
              <a:spcAft>
                <a:spcPts val="600"/>
              </a:spcAft>
              <a:defRPr sz="2000">
                <a:solidFill>
                  <a:srgbClr val="333333"/>
                </a:solidFill>
                <a:latin typeface="Calibri"/>
              </a:defRPr>
            </a:pPr>
            <a:r>
              <a:t>5.  TCR Clustering &amp; Serial Engagement Model</a:t>
            </a:r>
          </a:p>
          <a:p>
            <a:pPr>
              <a:spcAft>
                <a:spcPts val="600"/>
              </a:spcAft>
              <a:defRPr sz="2000">
                <a:solidFill>
                  <a:srgbClr val="333333"/>
                </a:solidFill>
                <a:latin typeface="Calibri"/>
              </a:defRPr>
            </a:pPr>
            <a:r>
              <a:t>6.  Mechanical Forces: Catch Bonds vs Slip Bonds</a:t>
            </a:r>
          </a:p>
          <a:p>
            <a:pPr>
              <a:spcAft>
                <a:spcPts val="600"/>
              </a:spcAft>
              <a:defRPr sz="2000">
                <a:solidFill>
                  <a:srgbClr val="333333"/>
                </a:solidFill>
                <a:latin typeface="Calibri"/>
              </a:defRPr>
            </a:pPr>
            <a:r>
              <a:t>7.  Self vs Non-Self: TCR Affinity Windows</a:t>
            </a:r>
          </a:p>
          <a:p>
            <a:pPr>
              <a:spcAft>
                <a:spcPts val="600"/>
              </a:spcAft>
              <a:defRPr sz="2000">
                <a:solidFill>
                  <a:srgbClr val="333333"/>
                </a:solidFill>
                <a:latin typeface="Calibri"/>
              </a:defRPr>
            </a:pPr>
            <a:r>
              <a:t>8.  Engineering CAR-T Cells &amp; CAR vs TCR Signaling</a:t>
            </a:r>
          </a:p>
          <a:p>
            <a:pPr>
              <a:spcAft>
                <a:spcPts val="600"/>
              </a:spcAft>
              <a:defRPr sz="2000">
                <a:solidFill>
                  <a:srgbClr val="333333"/>
                </a:solidFill>
                <a:latin typeface="Calibri"/>
              </a:defRPr>
            </a:pPr>
            <a:r>
              <a:t>9.  The Affinity Mismatch Problem in CAR-T</a:t>
            </a:r>
          </a:p>
          <a:p>
            <a:pPr>
              <a:spcAft>
                <a:spcPts val="600"/>
              </a:spcAft>
              <a:defRPr sz="2000">
                <a:solidFill>
                  <a:srgbClr val="333333"/>
                </a:solidFill>
                <a:latin typeface="Calibri"/>
              </a:defRPr>
            </a:pPr>
            <a:r>
              <a:t>10. Hypothesis &amp; Objectives</a:t>
            </a:r>
          </a:p>
          <a:p>
            <a:pPr>
              <a:spcAft>
                <a:spcPts val="600"/>
              </a:spcAft>
              <a:defRPr sz="2000">
                <a:solidFill>
                  <a:srgbClr val="333333"/>
                </a:solidFill>
                <a:latin typeface="Calibri"/>
              </a:defRPr>
            </a:pPr>
            <a:r>
              <a:t>11. Experimental Design &amp; Workflow</a:t>
            </a:r>
          </a:p>
          <a:p>
            <a:pPr>
              <a:spcAft>
                <a:spcPts val="600"/>
              </a:spcAft>
              <a:defRPr sz="2000">
                <a:solidFill>
                  <a:srgbClr val="333333"/>
                </a:solidFill>
                <a:latin typeface="Calibri"/>
              </a:defRPr>
            </a:pPr>
            <a:r>
              <a:t>12. Expected Outcomes &amp; Timeline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Evolution of Cancer Therapeutics</a:t>
            </a:r>
          </a:p>
        </p:txBody>
      </p:sp>
      <p:sp>
        <p:nvSpPr>
          <p:cNvPr id="3" name="TextBox 2"/>
          <p:cNvSpPr txBox="1"/>
          <p:nvPr/>
        </p:nvSpPr>
        <p:spPr>
          <a:xfrm>
            <a:off x="731520" y="1188720"/>
            <a:ext cx="6400800" cy="4114800"/>
          </a:xfrm>
          <a:prstGeom prst="rect">
            <a:avLst/>
          </a:prstGeom>
          <a:noFill/>
        </p:spPr>
        <p:txBody>
          <a:bodyPr wrap="square">
            <a:spAutoFit/>
          </a:bodyPr>
          <a:lstStyle/>
          <a:p>
            <a:pPr>
              <a:spcAft>
                <a:spcPts val="600"/>
              </a:spcAft>
              <a:defRPr sz="1600">
                <a:solidFill>
                  <a:srgbClr val="333333"/>
                </a:solidFill>
                <a:latin typeface="Calibri"/>
              </a:defRPr>
            </a:pPr>
            <a:r>
              <a:t>1890-1950s    Surgery, Radiation &amp; Chemotherapy</a:t>
            </a:r>
          </a:p>
          <a:p>
            <a:pPr>
              <a:spcAft>
                <a:spcPts val="600"/>
              </a:spcAft>
              <a:defRPr sz="1600">
                <a:solidFill>
                  <a:srgbClr val="333333"/>
                </a:solidFill>
                <a:latin typeface="Calibri"/>
              </a:defRPr>
            </a:pPr>
            <a:r>
              <a:t>1940s              Hormonal Therapy</a:t>
            </a:r>
          </a:p>
          <a:p>
            <a:pPr>
              <a:spcAft>
                <a:spcPts val="600"/>
              </a:spcAft>
              <a:defRPr sz="1600">
                <a:solidFill>
                  <a:srgbClr val="333333"/>
                </a:solidFill>
                <a:latin typeface="Calibri"/>
              </a:defRPr>
            </a:pPr>
            <a:r>
              <a:t>1976                BCG Immunotherapy</a:t>
            </a:r>
          </a:p>
          <a:p>
            <a:pPr>
              <a:spcAft>
                <a:spcPts val="600"/>
              </a:spcAft>
              <a:defRPr sz="1600">
                <a:solidFill>
                  <a:srgbClr val="333333"/>
                </a:solidFill>
                <a:latin typeface="Calibri"/>
              </a:defRPr>
            </a:pPr>
            <a:r>
              <a:t>1986                FDA-approved Interferon Therapy</a:t>
            </a:r>
          </a:p>
          <a:p>
            <a:pPr>
              <a:spcAft>
                <a:spcPts val="600"/>
              </a:spcAft>
              <a:defRPr sz="1600">
                <a:solidFill>
                  <a:srgbClr val="333333"/>
                </a:solidFill>
                <a:latin typeface="Calibri"/>
              </a:defRPr>
            </a:pPr>
            <a:r>
              <a:t>1997-2017      Monoclonal Antibodies &amp; Small Molecule Inhibitors</a:t>
            </a:r>
          </a:p>
          <a:p>
            <a:pPr>
              <a:spcAft>
                <a:spcPts val="600"/>
              </a:spcAft>
              <a:defRPr sz="1600">
                <a:solidFill>
                  <a:srgbClr val="333333"/>
                </a:solidFill>
                <a:latin typeface="Calibri"/>
              </a:defRPr>
            </a:pPr>
            <a:r>
              <a:t>2015-2018      Immune Checkpoint Therapies (Anti-PD-1, Anti-PD-L1)</a:t>
            </a:r>
          </a:p>
          <a:p>
            <a:pPr>
              <a:spcAft>
                <a:spcPts val="600"/>
              </a:spcAft>
              <a:defRPr sz="1600">
                <a:solidFill>
                  <a:srgbClr val="333333"/>
                </a:solidFill>
                <a:latin typeface="Calibri"/>
              </a:defRPr>
            </a:pPr>
            <a:r>
              <a:t>2017                First FDA-approved CAR-T Cell Therapy (Kymriah)</a:t>
            </a:r>
          </a:p>
        </p:txBody>
      </p:sp>
      <p:sp>
        <p:nvSpPr>
          <p:cNvPr id="4" name="TextBox 3"/>
          <p:cNvSpPr txBox="1"/>
          <p:nvPr/>
        </p:nvSpPr>
        <p:spPr>
          <a:xfrm>
            <a:off x="731520" y="5486400"/>
            <a:ext cx="10058400" cy="731520"/>
          </a:xfrm>
          <a:prstGeom prst="rect">
            <a:avLst/>
          </a:prstGeom>
          <a:noFill/>
        </p:spPr>
        <p:txBody>
          <a:bodyPr wrap="square">
            <a:spAutoFit/>
          </a:bodyPr>
          <a:lstStyle/>
          <a:p>
            <a:pPr algn="l">
              <a:defRPr sz="1400" b="1">
                <a:solidFill>
                  <a:srgbClr val="E53935"/>
                </a:solidFill>
                <a:latin typeface="Calibri"/>
              </a:defRPr>
            </a:pPr>
            <a:r>
              <a:t>Current Challenges: Tumor relapse, TME immunosuppression, off-target toxicity, early exhaustion, lack of precision</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Milestones in Cancer Research and Discovery, NCI; Jangavali et al.,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T Cell Receptor Complex</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600">
                <a:solidFill>
                  <a:srgbClr val="333333"/>
                </a:solidFill>
                <a:latin typeface="Calibri"/>
              </a:defRPr>
            </a:pPr>
            <a:r>
              <a:t>TCR: heterodimer of α and β chains, each with variable (V) and constant (C) domains</a:t>
            </a:r>
          </a:p>
          <a:p>
            <a:pPr>
              <a:spcAft>
                <a:spcPts val="600"/>
              </a:spcAft>
              <a:defRPr sz="1600">
                <a:solidFill>
                  <a:srgbClr val="333333"/>
                </a:solidFill>
                <a:latin typeface="Calibri"/>
              </a:defRPr>
            </a:pPr>
            <a:r>
              <a:t>Associated with CD3 signaling subunits: CD3εγ, CD3εδ, and CD3ζζ</a:t>
            </a:r>
          </a:p>
          <a:p>
            <a:pPr>
              <a:spcAft>
                <a:spcPts val="600"/>
              </a:spcAft>
              <a:defRPr sz="1600">
                <a:solidFill>
                  <a:srgbClr val="333333"/>
                </a:solidFill>
                <a:latin typeface="Calibri"/>
              </a:defRPr>
            </a:pPr>
            <a:r>
              <a:t>CD3ζ contains 3 ITAMs (Immunoreceptor Tyrosine-based Activation Motifs)</a:t>
            </a:r>
          </a:p>
          <a:p>
            <a:pPr>
              <a:spcAft>
                <a:spcPts val="600"/>
              </a:spcAft>
              <a:defRPr sz="1600">
                <a:solidFill>
                  <a:srgbClr val="333333"/>
                </a:solidFill>
                <a:latin typeface="Calibri"/>
              </a:defRPr>
            </a:pPr>
            <a:r>
              <a:t>Six CDR loops (CDR1-3 from each chain) form the binding interface:</a:t>
            </a:r>
          </a:p>
          <a:p>
            <a:pPr>
              <a:spcAft>
                <a:spcPts val="600"/>
              </a:spcAft>
              <a:defRPr sz="1600">
                <a:solidFill>
                  <a:srgbClr val="333333"/>
                </a:solidFill>
                <a:latin typeface="Calibri"/>
              </a:defRPr>
            </a:pPr>
            <a:r>
              <a:t>    • CDR1 &amp; CDR2 (germline-encoded): contact MHC α-helices</a:t>
            </a:r>
          </a:p>
          <a:p>
            <a:pPr>
              <a:spcAft>
                <a:spcPts val="600"/>
              </a:spcAft>
              <a:defRPr sz="1600">
                <a:solidFill>
                  <a:srgbClr val="333333"/>
                </a:solidFill>
                <a:latin typeface="Calibri"/>
              </a:defRPr>
            </a:pPr>
            <a:r>
              <a:t>    • CDR3 (somatically rearranged): contacts the peptide - determines specificity</a:t>
            </a:r>
          </a:p>
          <a:p>
            <a:pPr>
              <a:spcAft>
                <a:spcPts val="600"/>
              </a:spcAft>
              <a:defRPr sz="1600">
                <a:solidFill>
                  <a:srgbClr val="333333"/>
                </a:solidFill>
                <a:latin typeface="Calibri"/>
              </a:defRPr>
            </a:pPr>
            <a:r>
              <a:t>TCR-pMHC binding is weak (KD: 1-100 μM) compared to antibody-antigen (nM)</a:t>
            </a:r>
          </a:p>
          <a:p>
            <a:pPr>
              <a:spcAft>
                <a:spcPts val="600"/>
              </a:spcAft>
              <a:defRPr sz="1600">
                <a:solidFill>
                  <a:srgbClr val="333333"/>
                </a:solidFill>
                <a:latin typeface="Calibri"/>
              </a:defRPr>
            </a:pPr>
            <a:r>
              <a:t>ERM proteins (Ezrin, Radixin, Moesin) anchor TCR on microvilli</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Shah et al., 2021, Signal Transduct Target Ther; Ghosh et al., 2020, Cell Reports; Rossjohn et al., 2015, Annu Rev Immunol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TCR-pMHC Binding Kinetics: The Key Parameters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KD (Equilibrium Dissociation Constant)</a:t>
            </a:r>
          </a:p>
          <a:p>
            <a:pPr>
              <a:spcAft>
                <a:spcPts val="600"/>
              </a:spcAft>
              <a:defRPr sz="1500">
                <a:solidFill>
                  <a:srgbClr val="333333"/>
                </a:solidFill>
                <a:latin typeface="Calibri"/>
              </a:defRPr>
            </a:pPr>
            <a:r>
              <a:t>    • Ratio of koff/kon; reflects overall binding strength</a:t>
            </a:r>
          </a:p>
          <a:p>
            <a:pPr>
              <a:spcAft>
                <a:spcPts val="600"/>
              </a:spcAft>
              <a:defRPr sz="1500">
                <a:solidFill>
                  <a:srgbClr val="333333"/>
                </a:solidFill>
                <a:latin typeface="Calibri"/>
              </a:defRPr>
            </a:pPr>
            <a:r>
              <a:t>    • CD8+ T cells: 13 ± 11 μM | CD4+ T cells: 52 ± 33 μM</a:t>
            </a:r>
          </a:p>
          <a:p>
            <a:pPr>
              <a:spcAft>
                <a:spcPts val="600"/>
              </a:spcAft>
              <a:defRPr sz="1500">
                <a:solidFill>
                  <a:srgbClr val="333333"/>
                </a:solidFill>
                <a:latin typeface="Calibri"/>
              </a:defRPr>
            </a:pPr>
          </a:p>
          <a:p>
            <a:pPr>
              <a:spcAft>
                <a:spcPts val="600"/>
              </a:spcAft>
              <a:defRPr sz="1500">
                <a:solidFill>
                  <a:srgbClr val="333333"/>
                </a:solidFill>
                <a:latin typeface="Calibri"/>
              </a:defRPr>
            </a:pPr>
            <a:r>
              <a:t>kon (Association Rate)</a:t>
            </a:r>
          </a:p>
          <a:p>
            <a:pPr>
              <a:spcAft>
                <a:spcPts val="600"/>
              </a:spcAft>
              <a:defRPr sz="1500">
                <a:solidFill>
                  <a:srgbClr val="333333"/>
                </a:solidFill>
                <a:latin typeface="Calibri"/>
              </a:defRPr>
            </a:pPr>
            <a:r>
              <a:t>    • Range: 600 - 400,000 M⁻¹s⁻¹</a:t>
            </a:r>
          </a:p>
          <a:p>
            <a:pPr>
              <a:spcAft>
                <a:spcPts val="600"/>
              </a:spcAft>
              <a:defRPr sz="1500">
                <a:solidFill>
                  <a:srgbClr val="333333"/>
                </a:solidFill>
                <a:latin typeface="Calibri"/>
              </a:defRPr>
            </a:pPr>
            <a:r>
              <a:t>    • Relatively slow (requires induced-fit conformational adjustment)</a:t>
            </a:r>
          </a:p>
          <a:p>
            <a:pPr>
              <a:spcAft>
                <a:spcPts val="600"/>
              </a:spcAft>
              <a:defRPr sz="1500">
                <a:solidFill>
                  <a:srgbClr val="333333"/>
                </a:solidFill>
                <a:latin typeface="Calibri"/>
              </a:defRPr>
            </a:pPr>
          </a:p>
          <a:p>
            <a:pPr>
              <a:spcAft>
                <a:spcPts val="600"/>
              </a:spcAft>
              <a:defRPr sz="1500">
                <a:solidFill>
                  <a:srgbClr val="333333"/>
                </a:solidFill>
                <a:latin typeface="Calibri"/>
              </a:defRPr>
            </a:pPr>
            <a:r>
              <a:t>koff (Dissociation Rate) — THE KEY PARAMETER</a:t>
            </a:r>
          </a:p>
          <a:p>
            <a:pPr>
              <a:spcAft>
                <a:spcPts val="600"/>
              </a:spcAft>
              <a:defRPr sz="1500">
                <a:solidFill>
                  <a:srgbClr val="333333"/>
                </a:solidFill>
                <a:latin typeface="Calibri"/>
              </a:defRPr>
            </a:pPr>
            <a:r>
              <a:t>    • Range: 0.009 - 0.975 s⁻¹</a:t>
            </a:r>
          </a:p>
          <a:p>
            <a:pPr>
              <a:spcAft>
                <a:spcPts val="600"/>
              </a:spcAft>
              <a:defRPr sz="1500">
                <a:solidFill>
                  <a:srgbClr val="333333"/>
                </a:solidFill>
                <a:latin typeface="Calibri"/>
              </a:defRPr>
            </a:pPr>
            <a:r>
              <a:t>    • Determines dwell time (t½ = ln2/koff)</a:t>
            </a:r>
          </a:p>
          <a:p>
            <a:pPr>
              <a:spcAft>
                <a:spcPts val="600"/>
              </a:spcAft>
              <a:defRPr sz="1500">
                <a:solidFill>
                  <a:srgbClr val="333333"/>
                </a:solidFill>
                <a:latin typeface="Calibri"/>
              </a:defRPr>
            </a:pPr>
            <a:r>
              <a:t>    • Better predictor of T cell activation than KD</a:t>
            </a:r>
          </a:p>
          <a:p>
            <a:pPr>
              <a:spcAft>
                <a:spcPts val="600"/>
              </a:spcAft>
              <a:defRPr sz="1500">
                <a:solidFill>
                  <a:srgbClr val="333333"/>
                </a:solidFill>
                <a:latin typeface="Calibri"/>
              </a:defRPr>
            </a:pPr>
            <a:r>
              <a:t>    • "TCR-ligand koff is a robust and stable biomarker of CD8+ T cell potency"</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Stone et al., 2009, Immunology; Aleksic et al., 2007, J Immunol; Hebeisen et al., 2017, JCI Insight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Kinetic Proofreading Model (McKeithan, 1995)</a:t>
            </a:r>
          </a:p>
        </p:txBody>
      </p:sp>
      <p:pic>
        <p:nvPicPr>
          <p:cNvPr id="3" name="Picture 2" descr="kinetic_proofreading.png"/>
          <p:cNvPicPr>
            <a:picLocks noChangeAspect="1"/>
          </p:cNvPicPr>
          <p:nvPr/>
        </p:nvPicPr>
        <p:blipFill>
          <a:blip r:embed="rId2"/>
          <a:stretch>
            <a:fillRect/>
          </a:stretch>
        </p:blipFill>
        <p:spPr>
          <a:xfrm>
            <a:off x="274320" y="1097280"/>
            <a:ext cx="11612880" cy="4114800"/>
          </a:xfrm>
          <a:prstGeom prst="rect">
            <a:avLst/>
          </a:prstGeom>
        </p:spPr>
      </p:pic>
      <p:sp>
        <p:nvSpPr>
          <p:cNvPr id="4" name="TextBox 3"/>
          <p:cNvSpPr txBox="1"/>
          <p:nvPr/>
        </p:nvSpPr>
        <p:spPr>
          <a:xfrm>
            <a:off x="457200" y="5303520"/>
            <a:ext cx="10972800" cy="914400"/>
          </a:xfrm>
          <a:prstGeom prst="rect">
            <a:avLst/>
          </a:prstGeom>
          <a:noFill/>
        </p:spPr>
        <p:txBody>
          <a:bodyPr wrap="square">
            <a:spAutoFit/>
          </a:bodyPr>
          <a:lstStyle/>
          <a:p>
            <a:pPr algn="l">
              <a:defRPr sz="1400" b="0">
                <a:solidFill>
                  <a:srgbClr val="333333"/>
                </a:solidFill>
                <a:latin typeface="Calibri"/>
              </a:defRPr>
            </a:pPr>
            <a:r>
              <a:t>Each phosphorylation step acts as a checkpoint. If pMHC dissociates before completion, signal RESETS.</a:t>
            </a:r>
            <a:br/>
            <a:r>
              <a:t>N steps amplify koff differences exponentially (∼ koff^N) → Exquisite discrimination between self and foreign.</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McKeithan TW, 1995, PNAS 92:5042-5046; Torigoe et al., 2022, Nat Immunol 23:1045-1056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Optimal Dwell Time ("Goldilocks") Concept</a:t>
            </a:r>
          </a:p>
        </p:txBody>
      </p:sp>
      <p:pic>
        <p:nvPicPr>
          <p:cNvPr id="3" name="Picture 2" descr="optimal_dwell_time.png"/>
          <p:cNvPicPr>
            <a:picLocks noChangeAspect="1"/>
          </p:cNvPicPr>
          <p:nvPr/>
        </p:nvPicPr>
        <p:blipFill>
          <a:blip r:embed="rId2"/>
          <a:stretch>
            <a:fillRect/>
          </a:stretch>
        </p:blipFill>
        <p:spPr>
          <a:xfrm>
            <a:off x="457200" y="1097280"/>
            <a:ext cx="7772400" cy="4572000"/>
          </a:xfrm>
          <a:prstGeom prst="rect">
            <a:avLst/>
          </a:prstGeom>
        </p:spPr>
      </p:pic>
      <p:sp>
        <p:nvSpPr>
          <p:cNvPr id="4" name="TextBox 3"/>
          <p:cNvSpPr txBox="1"/>
          <p:nvPr/>
        </p:nvSpPr>
        <p:spPr>
          <a:xfrm>
            <a:off x="8503920" y="1188720"/>
            <a:ext cx="3474720" cy="4572000"/>
          </a:xfrm>
          <a:prstGeom prst="rect">
            <a:avLst/>
          </a:prstGeom>
          <a:noFill/>
        </p:spPr>
        <p:txBody>
          <a:bodyPr wrap="square">
            <a:spAutoFit/>
          </a:bodyPr>
          <a:lstStyle/>
          <a:p>
            <a:pPr>
              <a:spcAft>
                <a:spcPts val="600"/>
              </a:spcAft>
              <a:defRPr sz="1300">
                <a:solidFill>
                  <a:srgbClr val="333333"/>
                </a:solidFill>
                <a:latin typeface="Calibri"/>
              </a:defRPr>
            </a:pPr>
            <a:r>
              <a:t>Too SHORT (&lt; 10 s):</a:t>
            </a:r>
          </a:p>
          <a:p>
            <a:pPr>
              <a:spcAft>
                <a:spcPts val="600"/>
              </a:spcAft>
              <a:defRPr sz="1300">
                <a:solidFill>
                  <a:srgbClr val="333333"/>
                </a:solidFill>
                <a:latin typeface="Calibri"/>
              </a:defRPr>
            </a:pPr>
            <a:r>
              <a:t>  Kinetic proofreading incomplete</a:t>
            </a:r>
          </a:p>
          <a:p>
            <a:pPr>
              <a:spcAft>
                <a:spcPts val="600"/>
              </a:spcAft>
              <a:defRPr sz="1300">
                <a:solidFill>
                  <a:srgbClr val="333333"/>
                </a:solidFill>
                <a:latin typeface="Calibri"/>
              </a:defRPr>
            </a:pPr>
            <a:r>
              <a:t>  No productive signaling</a:t>
            </a:r>
          </a:p>
          <a:p>
            <a:pPr>
              <a:spcAft>
                <a:spcPts val="600"/>
              </a:spcAft>
              <a:defRPr sz="1300">
                <a:solidFill>
                  <a:srgbClr val="333333"/>
                </a:solidFill>
                <a:latin typeface="Calibri"/>
              </a:defRPr>
            </a:pPr>
          </a:p>
          <a:p>
            <a:pPr>
              <a:spcAft>
                <a:spcPts val="600"/>
              </a:spcAft>
              <a:defRPr sz="1300">
                <a:solidFill>
                  <a:srgbClr val="333333"/>
                </a:solidFill>
                <a:latin typeface="Calibri"/>
              </a:defRPr>
            </a:pPr>
            <a:r>
              <a:t>OPTIMAL (∼ 34 s):</a:t>
            </a:r>
          </a:p>
          <a:p>
            <a:pPr>
              <a:spcAft>
                <a:spcPts val="600"/>
              </a:spcAft>
              <a:defRPr sz="1300">
                <a:solidFill>
                  <a:srgbClr val="333333"/>
                </a:solidFill>
                <a:latin typeface="Calibri"/>
              </a:defRPr>
            </a:pPr>
            <a:r>
              <a:t>  Signal completion + serial</a:t>
            </a:r>
          </a:p>
          <a:p>
            <a:pPr>
              <a:spcAft>
                <a:spcPts val="600"/>
              </a:spcAft>
              <a:defRPr sz="1300">
                <a:solidFill>
                  <a:srgbClr val="333333"/>
                </a:solidFill>
                <a:latin typeface="Calibri"/>
              </a:defRPr>
            </a:pPr>
            <a:r>
              <a:t>  engagement both satisfied</a:t>
            </a:r>
          </a:p>
          <a:p>
            <a:pPr>
              <a:spcAft>
                <a:spcPts val="600"/>
              </a:spcAft>
              <a:defRPr sz="1300">
                <a:solidFill>
                  <a:srgbClr val="333333"/>
                </a:solidFill>
                <a:latin typeface="Calibri"/>
              </a:defRPr>
            </a:pPr>
          </a:p>
          <a:p>
            <a:pPr>
              <a:spcAft>
                <a:spcPts val="600"/>
              </a:spcAft>
              <a:defRPr sz="1300">
                <a:solidFill>
                  <a:srgbClr val="333333"/>
                </a:solidFill>
                <a:latin typeface="Calibri"/>
              </a:defRPr>
            </a:pPr>
            <a:r>
              <a:t>Too LONG (&gt; 60 s):</a:t>
            </a:r>
          </a:p>
          <a:p>
            <a:pPr>
              <a:spcAft>
                <a:spcPts val="600"/>
              </a:spcAft>
              <a:defRPr sz="1300">
                <a:solidFill>
                  <a:srgbClr val="333333"/>
                </a:solidFill>
                <a:latin typeface="Calibri"/>
              </a:defRPr>
            </a:pPr>
            <a:r>
              <a:t>  Blocks serial engagement</a:t>
            </a:r>
          </a:p>
          <a:p>
            <a:pPr>
              <a:spcAft>
                <a:spcPts val="600"/>
              </a:spcAft>
              <a:defRPr sz="1300">
                <a:solidFill>
                  <a:srgbClr val="333333"/>
                </a:solidFill>
                <a:latin typeface="Calibri"/>
              </a:defRPr>
            </a:pPr>
            <a:r>
              <a:t>  Impairs signal amplification</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Kalergis et al., 2001, Nat Immunol 2:229-234; Colf et al., 2010, PLoS Biol 8:e1000482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Serial Engagement Model (Valitutti et al., 1995)</a:t>
            </a:r>
          </a:p>
        </p:txBody>
      </p:sp>
      <p:pic>
        <p:nvPicPr>
          <p:cNvPr id="3" name="Picture 2" descr="serial_engagement.png"/>
          <p:cNvPicPr>
            <a:picLocks noChangeAspect="1"/>
          </p:cNvPicPr>
          <p:nvPr/>
        </p:nvPicPr>
        <p:blipFill>
          <a:blip r:embed="rId2"/>
          <a:stretch>
            <a:fillRect/>
          </a:stretch>
        </p:blipFill>
        <p:spPr>
          <a:xfrm>
            <a:off x="274320" y="1005840"/>
            <a:ext cx="11612880" cy="3200400"/>
          </a:xfrm>
          <a:prstGeom prst="rect">
            <a:avLst/>
          </a:prstGeom>
        </p:spPr>
      </p:pic>
      <p:sp>
        <p:nvSpPr>
          <p:cNvPr id="4" name="TextBox 3"/>
          <p:cNvSpPr txBox="1"/>
          <p:nvPr/>
        </p:nvSpPr>
        <p:spPr>
          <a:xfrm>
            <a:off x="457200" y="4389120"/>
            <a:ext cx="10972800" cy="1828800"/>
          </a:xfrm>
          <a:prstGeom prst="rect">
            <a:avLst/>
          </a:prstGeom>
          <a:noFill/>
        </p:spPr>
        <p:txBody>
          <a:bodyPr wrap="square">
            <a:spAutoFit/>
          </a:bodyPr>
          <a:lstStyle/>
          <a:p>
            <a:pPr>
              <a:spcAft>
                <a:spcPts val="600"/>
              </a:spcAft>
              <a:defRPr sz="1400">
                <a:solidFill>
                  <a:srgbClr val="333333"/>
                </a:solidFill>
                <a:latin typeface="Calibri"/>
              </a:defRPr>
            </a:pPr>
            <a:r>
              <a:t>• One pMHC can serially engage and trigger ∼200 TCRs</a:t>
            </a:r>
          </a:p>
          <a:p>
            <a:pPr>
              <a:spcAft>
                <a:spcPts val="600"/>
              </a:spcAft>
              <a:defRPr sz="1400">
                <a:solidFill>
                  <a:srgbClr val="333333"/>
                </a:solidFill>
                <a:latin typeface="Calibri"/>
              </a:defRPr>
            </a:pPr>
            <a:r>
              <a:t>• With ∼100 pMHC on APC, up to 18,000 TCRs are triggered per T cell</a:t>
            </a:r>
          </a:p>
          <a:p>
            <a:pPr>
              <a:spcAft>
                <a:spcPts val="600"/>
              </a:spcAft>
              <a:defRPr sz="1400">
                <a:solidFill>
                  <a:srgbClr val="333333"/>
                </a:solidFill>
                <a:latin typeface="Calibri"/>
              </a:defRPr>
            </a:pPr>
            <a:r>
              <a:t>• Creates tension with kinetic proofreading: serial engagement needs fast koff, proofreading needs slow koff</a:t>
            </a:r>
          </a:p>
          <a:p>
            <a:pPr>
              <a:spcAft>
                <a:spcPts val="600"/>
              </a:spcAft>
              <a:defRPr sz="1400">
                <a:solidFill>
                  <a:srgbClr val="333333"/>
                </a:solidFill>
                <a:latin typeface="Calibri"/>
              </a:defRPr>
            </a:pPr>
            <a:r>
              <a:t>• Resolution: optimal dwell time window balances both requirements</a:t>
            </a:r>
          </a:p>
          <a:p>
            <a:pPr>
              <a:spcAft>
                <a:spcPts val="600"/>
              </a:spcAft>
              <a:defRPr sz="1400">
                <a:solidFill>
                  <a:srgbClr val="333333"/>
                </a:solidFill>
                <a:latin typeface="Calibri"/>
              </a:defRPr>
            </a:pPr>
            <a:r>
              <a:t>• 2D off-rates are up to 8,300× faster than 3D, with agonist pMHC dissociating fastest (Huang et al., 2010)</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Valitutti et al., 1995, Nature 375:148-151; Huang et al., 2010, Nature 464:932-936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TCR Microclusters: The Signaling Units</a:t>
            </a:r>
          </a:p>
        </p:txBody>
      </p:sp>
      <p:pic>
        <p:nvPicPr>
          <p:cNvPr id="3" name="Picture 2" descr="tcr_synapse_organization.png"/>
          <p:cNvPicPr>
            <a:picLocks noChangeAspect="1"/>
          </p:cNvPicPr>
          <p:nvPr/>
        </p:nvPicPr>
        <p:blipFill>
          <a:blip r:embed="rId2"/>
          <a:stretch>
            <a:fillRect/>
          </a:stretch>
        </p:blipFill>
        <p:spPr>
          <a:xfrm>
            <a:off x="6858000" y="1005840"/>
            <a:ext cx="5029200" cy="5029200"/>
          </a:xfrm>
          <a:prstGeom prst="rect">
            <a:avLst/>
          </a:prstGeom>
        </p:spPr>
      </p:pic>
      <p:sp>
        <p:nvSpPr>
          <p:cNvPr id="4" name="TextBox 3"/>
          <p:cNvSpPr txBox="1"/>
          <p:nvPr/>
        </p:nvSpPr>
        <p:spPr>
          <a:xfrm>
            <a:off x="457200" y="1188720"/>
            <a:ext cx="6217920" cy="5029200"/>
          </a:xfrm>
          <a:prstGeom prst="rect">
            <a:avLst/>
          </a:prstGeom>
          <a:noFill/>
        </p:spPr>
        <p:txBody>
          <a:bodyPr wrap="square">
            <a:spAutoFit/>
          </a:bodyPr>
          <a:lstStyle/>
          <a:p>
            <a:pPr>
              <a:spcAft>
                <a:spcPts val="600"/>
              </a:spcAft>
              <a:defRPr sz="1400">
                <a:solidFill>
                  <a:srgbClr val="333333"/>
                </a:solidFill>
                <a:latin typeface="Calibri"/>
              </a:defRPr>
            </a:pPr>
            <a:r>
              <a:t>TCR Microclusters:</a:t>
            </a:r>
          </a:p>
          <a:p>
            <a:pPr>
              <a:spcAft>
                <a:spcPts val="600"/>
              </a:spcAft>
              <a:defRPr sz="1400">
                <a:solidFill>
                  <a:srgbClr val="333333"/>
                </a:solidFill>
                <a:latin typeface="Calibri"/>
              </a:defRPr>
            </a:pPr>
            <a:r>
              <a:t>  • ~50-300 TCR molecules each (∼100 typical)</a:t>
            </a:r>
          </a:p>
          <a:p>
            <a:pPr>
              <a:spcAft>
                <a:spcPts val="600"/>
              </a:spcAft>
              <a:defRPr sz="1400">
                <a:solidFill>
                  <a:srgbClr val="333333"/>
                </a:solidFill>
                <a:latin typeface="Calibri"/>
              </a:defRPr>
            </a:pPr>
            <a:r>
              <a:t>  • Size: 0.35-0.5 μm²</a:t>
            </a:r>
          </a:p>
          <a:p>
            <a:pPr>
              <a:spcAft>
                <a:spcPts val="600"/>
              </a:spcAft>
              <a:defRPr sz="1400">
                <a:solidFill>
                  <a:srgbClr val="333333"/>
                </a:solidFill>
                <a:latin typeface="Calibri"/>
              </a:defRPr>
            </a:pPr>
            <a:r>
              <a:t>  • Contain: TCR, LAT, Grb2, ZAP-70</a:t>
            </a:r>
          </a:p>
          <a:p>
            <a:pPr>
              <a:spcAft>
                <a:spcPts val="600"/>
              </a:spcAft>
              <a:defRPr sz="1400">
                <a:solidFill>
                  <a:srgbClr val="333333"/>
                </a:solidFill>
                <a:latin typeface="Calibri"/>
              </a:defRPr>
            </a:pPr>
            <a:r>
              <a:t>  • CD45 constitutively EXCLUDED</a:t>
            </a:r>
          </a:p>
          <a:p>
            <a:pPr>
              <a:spcAft>
                <a:spcPts val="600"/>
              </a:spcAft>
              <a:defRPr sz="1400">
                <a:solidFill>
                  <a:srgbClr val="333333"/>
                </a:solidFill>
                <a:latin typeface="Calibri"/>
              </a:defRPr>
            </a:pPr>
            <a:r>
              <a:t>  • Pre-exist before antigen encounter</a:t>
            </a:r>
          </a:p>
          <a:p>
            <a:pPr>
              <a:spcAft>
                <a:spcPts val="600"/>
              </a:spcAft>
              <a:defRPr sz="1400">
                <a:solidFill>
                  <a:srgbClr val="333333"/>
                </a:solidFill>
                <a:latin typeface="Calibri"/>
              </a:defRPr>
            </a:pPr>
          </a:p>
          <a:p>
            <a:pPr>
              <a:spcAft>
                <a:spcPts val="600"/>
              </a:spcAft>
              <a:defRPr sz="1400">
                <a:solidFill>
                  <a:srgbClr val="333333"/>
                </a:solidFill>
                <a:latin typeface="Calibri"/>
              </a:defRPr>
            </a:pPr>
            <a:r>
              <a:t>TCR Nanoclusters (pre-clustering):</a:t>
            </a:r>
          </a:p>
          <a:p>
            <a:pPr>
              <a:spcAft>
                <a:spcPts val="600"/>
              </a:spcAft>
              <a:defRPr sz="1400">
                <a:solidFill>
                  <a:srgbClr val="333333"/>
                </a:solidFill>
                <a:latin typeface="Calibri"/>
              </a:defRPr>
            </a:pPr>
            <a:r>
              <a:t>  • 7-30 TCR molecules; 35-70 nm radius</a:t>
            </a:r>
          </a:p>
          <a:p>
            <a:pPr>
              <a:spcAft>
                <a:spcPts val="600"/>
              </a:spcAft>
              <a:defRPr sz="1400">
                <a:solidFill>
                  <a:srgbClr val="333333"/>
                </a:solidFill>
                <a:latin typeface="Calibri"/>
              </a:defRPr>
            </a:pPr>
            <a:r>
              <a:t>  • Require cholesterol + sphingomyelin</a:t>
            </a:r>
          </a:p>
          <a:p>
            <a:pPr>
              <a:spcAft>
                <a:spcPts val="600"/>
              </a:spcAft>
              <a:defRPr sz="1400">
                <a:solidFill>
                  <a:srgbClr val="333333"/>
                </a:solidFill>
                <a:latin typeface="Calibri"/>
              </a:defRPr>
            </a:pPr>
            <a:r>
              <a:t>  • Localize to NON-raft domains</a:t>
            </a:r>
          </a:p>
          <a:p>
            <a:pPr>
              <a:spcAft>
                <a:spcPts val="600"/>
              </a:spcAft>
              <a:defRPr sz="1400">
                <a:solidFill>
                  <a:srgbClr val="333333"/>
                </a:solidFill>
                <a:latin typeface="Calibri"/>
              </a:defRPr>
            </a:pPr>
            <a:r>
              <a:t>  • Enhance sensitivity via cooperativity</a:t>
            </a:r>
          </a:p>
          <a:p>
            <a:pPr>
              <a:spcAft>
                <a:spcPts val="600"/>
              </a:spcAft>
              <a:defRPr sz="1400">
                <a:solidFill>
                  <a:srgbClr val="333333"/>
                </a:solidFill>
                <a:latin typeface="Calibri"/>
              </a:defRPr>
            </a:pPr>
          </a:p>
          <a:p>
            <a:pPr>
              <a:spcAft>
                <a:spcPts val="600"/>
              </a:spcAft>
              <a:defRPr sz="1400">
                <a:solidFill>
                  <a:srgbClr val="333333"/>
                </a:solidFill>
                <a:latin typeface="Calibri"/>
              </a:defRPr>
            </a:pPr>
            <a:r>
              <a:t>Total TCRs per T cell: ~20,000-30,000</a:t>
            </a:r>
          </a:p>
          <a:p>
            <a:pPr>
              <a:spcAft>
                <a:spcPts val="600"/>
              </a:spcAft>
              <a:defRPr sz="1400">
                <a:solidFill>
                  <a:srgbClr val="333333"/>
                </a:solidFill>
                <a:latin typeface="Calibri"/>
              </a:defRPr>
            </a:pPr>
            <a:r>
              <a:t>T cells detect as few as 1-10 pMHC on an APC</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Crites et al., 2014, J Immunol; Campi et al., 2005, JEM; Molnar et al., 2012, JBC; Schamel et al., 2015, BBA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Catch Bonds vs Slip Bonds in TCR-pMHC Interaction</a:t>
            </a:r>
          </a:p>
        </p:txBody>
      </p:sp>
      <p:pic>
        <p:nvPicPr>
          <p:cNvPr id="3" name="Picture 2" descr="catch_vs_slip_bond.png"/>
          <p:cNvPicPr>
            <a:picLocks noChangeAspect="1"/>
          </p:cNvPicPr>
          <p:nvPr/>
        </p:nvPicPr>
        <p:blipFill>
          <a:blip r:embed="rId2"/>
          <a:stretch>
            <a:fillRect/>
          </a:stretch>
        </p:blipFill>
        <p:spPr>
          <a:xfrm>
            <a:off x="274320" y="1005840"/>
            <a:ext cx="7772400" cy="4572000"/>
          </a:xfrm>
          <a:prstGeom prst="rect">
            <a:avLst/>
          </a:prstGeom>
        </p:spPr>
      </p:pic>
      <p:sp>
        <p:nvSpPr>
          <p:cNvPr id="4" name="TextBox 3"/>
          <p:cNvSpPr txBox="1"/>
          <p:nvPr/>
        </p:nvSpPr>
        <p:spPr>
          <a:xfrm>
            <a:off x="8229600" y="1188720"/>
            <a:ext cx="3657600" cy="5029200"/>
          </a:xfrm>
          <a:prstGeom prst="rect">
            <a:avLst/>
          </a:prstGeom>
          <a:noFill/>
        </p:spPr>
        <p:txBody>
          <a:bodyPr wrap="square">
            <a:spAutoFit/>
          </a:bodyPr>
          <a:lstStyle/>
          <a:p>
            <a:pPr>
              <a:spcAft>
                <a:spcPts val="600"/>
              </a:spcAft>
              <a:defRPr sz="1300">
                <a:solidFill>
                  <a:srgbClr val="333333"/>
                </a:solidFill>
                <a:latin typeface="Calibri"/>
              </a:defRPr>
            </a:pPr>
            <a:r>
              <a:t>CATCH BOND (Agonist):</a:t>
            </a:r>
          </a:p>
          <a:p>
            <a:pPr>
              <a:spcAft>
                <a:spcPts val="600"/>
              </a:spcAft>
              <a:defRPr sz="1300">
                <a:solidFill>
                  <a:srgbClr val="333333"/>
                </a:solidFill>
                <a:latin typeface="Calibri"/>
              </a:defRPr>
            </a:pPr>
            <a:r>
              <a:t>  Force STRENGTHENS the bond</a:t>
            </a:r>
          </a:p>
          <a:p>
            <a:pPr>
              <a:spcAft>
                <a:spcPts val="600"/>
              </a:spcAft>
              <a:defRPr sz="1300">
                <a:solidFill>
                  <a:srgbClr val="333333"/>
                </a:solidFill>
                <a:latin typeface="Calibri"/>
              </a:defRPr>
            </a:pPr>
            <a:r>
              <a:t>  Biphasic: lifetime increases</a:t>
            </a:r>
          </a:p>
          <a:p>
            <a:pPr>
              <a:spcAft>
                <a:spcPts val="600"/>
              </a:spcAft>
              <a:defRPr sz="1300">
                <a:solidFill>
                  <a:srgbClr val="333333"/>
                </a:solidFill>
                <a:latin typeface="Calibri"/>
              </a:defRPr>
            </a:pPr>
            <a:r>
              <a:t>  then decreases with force</a:t>
            </a:r>
          </a:p>
          <a:p>
            <a:pPr>
              <a:spcAft>
                <a:spcPts val="600"/>
              </a:spcAft>
              <a:defRPr sz="1300">
                <a:solidFill>
                  <a:srgbClr val="333333"/>
                </a:solidFill>
                <a:latin typeface="Calibri"/>
              </a:defRPr>
            </a:pPr>
            <a:r>
              <a:t>  Peak at ∼10 pN</a:t>
            </a:r>
          </a:p>
          <a:p>
            <a:pPr>
              <a:spcAft>
                <a:spcPts val="600"/>
              </a:spcAft>
              <a:defRPr sz="1300">
                <a:solidFill>
                  <a:srgbClr val="333333"/>
                </a:solidFill>
                <a:latin typeface="Calibri"/>
              </a:defRPr>
            </a:pPr>
          </a:p>
          <a:p>
            <a:pPr>
              <a:spcAft>
                <a:spcPts val="600"/>
              </a:spcAft>
              <a:defRPr sz="1300">
                <a:solidFill>
                  <a:srgbClr val="333333"/>
                </a:solidFill>
                <a:latin typeface="Calibri"/>
              </a:defRPr>
            </a:pPr>
            <a:r>
              <a:t>SLIP BOND (Antagonist):</a:t>
            </a:r>
          </a:p>
          <a:p>
            <a:pPr>
              <a:spcAft>
                <a:spcPts val="600"/>
              </a:spcAft>
              <a:defRPr sz="1300">
                <a:solidFill>
                  <a:srgbClr val="333333"/>
                </a:solidFill>
                <a:latin typeface="Calibri"/>
              </a:defRPr>
            </a:pPr>
            <a:r>
              <a:t>  Force WEAKENS the bond</a:t>
            </a:r>
          </a:p>
          <a:p>
            <a:pPr>
              <a:spcAft>
                <a:spcPts val="600"/>
              </a:spcAft>
              <a:defRPr sz="1300">
                <a:solidFill>
                  <a:srgbClr val="333333"/>
                </a:solidFill>
                <a:latin typeface="Calibri"/>
              </a:defRPr>
            </a:pPr>
            <a:r>
              <a:t>  Monotonic decrease in lifetime</a:t>
            </a:r>
          </a:p>
          <a:p>
            <a:pPr>
              <a:spcAft>
                <a:spcPts val="600"/>
              </a:spcAft>
              <a:defRPr sz="1300">
                <a:solidFill>
                  <a:srgbClr val="333333"/>
                </a:solidFill>
                <a:latin typeface="Calibri"/>
              </a:defRPr>
            </a:pPr>
          </a:p>
          <a:p>
            <a:pPr>
              <a:spcAft>
                <a:spcPts val="600"/>
              </a:spcAft>
              <a:defRPr sz="1300">
                <a:solidFill>
                  <a:srgbClr val="333333"/>
                </a:solidFill>
                <a:latin typeface="Calibri"/>
              </a:defRPr>
            </a:pPr>
            <a:r>
              <a:t>Key: Force acts as a "molecular</a:t>
            </a:r>
          </a:p>
          <a:p>
            <a:pPr>
              <a:spcAft>
                <a:spcPts val="600"/>
              </a:spcAft>
              <a:defRPr sz="1300">
                <a:solidFill>
                  <a:srgbClr val="333333"/>
                </a:solidFill>
                <a:latin typeface="Calibri"/>
              </a:defRPr>
            </a:pPr>
            <a:r>
              <a:t>stress test" for antigen quality</a:t>
            </a:r>
          </a:p>
          <a:p>
            <a:pPr>
              <a:spcAft>
                <a:spcPts val="600"/>
              </a:spcAft>
              <a:defRPr sz="1300">
                <a:solidFill>
                  <a:srgbClr val="333333"/>
                </a:solidFill>
                <a:latin typeface="Calibri"/>
              </a:defRPr>
            </a:pPr>
          </a:p>
          <a:p>
            <a:pPr>
              <a:spcAft>
                <a:spcPts val="600"/>
              </a:spcAft>
              <a:defRPr sz="1300">
                <a:solidFill>
                  <a:srgbClr val="333333"/>
                </a:solidFill>
                <a:latin typeface="Calibri"/>
              </a:defRPr>
            </a:pPr>
            <a:r>
              <a:t>OT-1 TCR: OVA, A2, G4 → catch</a:t>
            </a:r>
          </a:p>
          <a:p>
            <a:pPr>
              <a:spcAft>
                <a:spcPts val="600"/>
              </a:spcAft>
              <a:defRPr sz="1300">
                <a:solidFill>
                  <a:srgbClr val="333333"/>
                </a:solidFill>
                <a:latin typeface="Calibri"/>
              </a:defRPr>
            </a:pPr>
            <a:r>
              <a:t>R4, E1 (antagonists) → slip only</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Liu et al., 2014, Cell 157:357-368; Pettmann et al., 2023, Nat Commun 14:2346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TCR Mechanotransduction: From Force to Signal</a:t>
            </a:r>
          </a:p>
        </p:txBody>
      </p:sp>
      <p:pic>
        <p:nvPicPr>
          <p:cNvPr id="3" name="Picture 2" descr="signaling_cascade.png"/>
          <p:cNvPicPr>
            <a:picLocks noChangeAspect="1"/>
          </p:cNvPicPr>
          <p:nvPr/>
        </p:nvPicPr>
        <p:blipFill>
          <a:blip r:embed="rId2"/>
          <a:stretch>
            <a:fillRect/>
          </a:stretch>
        </p:blipFill>
        <p:spPr>
          <a:xfrm>
            <a:off x="7132320" y="731520"/>
            <a:ext cx="4572000" cy="5943600"/>
          </a:xfrm>
          <a:prstGeom prst="rect">
            <a:avLst/>
          </a:prstGeom>
        </p:spPr>
      </p:pic>
      <p:sp>
        <p:nvSpPr>
          <p:cNvPr id="4" name="TextBox 3"/>
          <p:cNvSpPr txBox="1"/>
          <p:nvPr/>
        </p:nvSpPr>
        <p:spPr>
          <a:xfrm>
            <a:off x="457200" y="1188720"/>
            <a:ext cx="6400800" cy="5029200"/>
          </a:xfrm>
          <a:prstGeom prst="rect">
            <a:avLst/>
          </a:prstGeom>
          <a:noFill/>
        </p:spPr>
        <p:txBody>
          <a:bodyPr wrap="square">
            <a:spAutoFit/>
          </a:bodyPr>
          <a:lstStyle/>
          <a:p>
            <a:pPr>
              <a:spcAft>
                <a:spcPts val="600"/>
              </a:spcAft>
              <a:defRPr sz="1400">
                <a:solidFill>
                  <a:srgbClr val="333333"/>
                </a:solidFill>
                <a:latin typeface="Calibri"/>
              </a:defRPr>
            </a:pPr>
            <a:r>
              <a:t>The Cβ FG Loop — A Molecular Lever:</a:t>
            </a:r>
          </a:p>
          <a:p>
            <a:pPr>
              <a:spcAft>
                <a:spcPts val="600"/>
              </a:spcAft>
              <a:defRPr sz="1400">
                <a:solidFill>
                  <a:srgbClr val="333333"/>
                </a:solidFill>
                <a:latin typeface="Calibri"/>
              </a:defRPr>
            </a:pPr>
            <a:r>
              <a:t>  • Unique bulky loop on TCRβ constant domain</a:t>
            </a:r>
          </a:p>
          <a:p>
            <a:pPr>
              <a:spcAft>
                <a:spcPts val="600"/>
              </a:spcAft>
              <a:defRPr sz="1400">
                <a:solidFill>
                  <a:srgbClr val="333333"/>
                </a:solidFill>
                <a:latin typeface="Calibri"/>
              </a:defRPr>
            </a:pPr>
            <a:r>
              <a:t>  • Transfers force from pMHC-TCR to TCR-CD3 interface</a:t>
            </a:r>
          </a:p>
          <a:p>
            <a:pPr>
              <a:spcAft>
                <a:spcPts val="600"/>
              </a:spcAft>
              <a:defRPr sz="1400">
                <a:solidFill>
                  <a:srgbClr val="333333"/>
                </a:solidFill>
                <a:latin typeface="Calibri"/>
              </a:defRPr>
            </a:pPr>
            <a:r>
              <a:t>  • Horizontal force → vertical force (lever mechanism)</a:t>
            </a:r>
          </a:p>
          <a:p>
            <a:pPr>
              <a:spcAft>
                <a:spcPts val="600"/>
              </a:spcAft>
              <a:defRPr sz="1400">
                <a:solidFill>
                  <a:srgbClr val="333333"/>
                </a:solidFill>
                <a:latin typeface="Calibri"/>
              </a:defRPr>
            </a:pPr>
            <a:r>
              <a:t>  • TCRβ TM segment acts as fulcrum</a:t>
            </a:r>
          </a:p>
          <a:p>
            <a:pPr>
              <a:spcAft>
                <a:spcPts val="600"/>
              </a:spcAft>
              <a:defRPr sz="1400">
                <a:solidFill>
                  <a:srgbClr val="333333"/>
                </a:solidFill>
                <a:latin typeface="Calibri"/>
              </a:defRPr>
            </a:pPr>
          </a:p>
          <a:p>
            <a:pPr>
              <a:spcAft>
                <a:spcPts val="600"/>
              </a:spcAft>
              <a:defRPr sz="1400">
                <a:solidFill>
                  <a:srgbClr val="333333"/>
                </a:solidFill>
                <a:latin typeface="Calibri"/>
              </a:defRPr>
            </a:pPr>
            <a:r>
              <a:t>ITAM Exposure ("Safety Catch"):</a:t>
            </a:r>
          </a:p>
          <a:p>
            <a:pPr>
              <a:spcAft>
                <a:spcPts val="600"/>
              </a:spcAft>
              <a:defRPr sz="1400">
                <a:solidFill>
                  <a:srgbClr val="333333"/>
                </a:solidFill>
                <a:latin typeface="Calibri"/>
              </a:defRPr>
            </a:pPr>
            <a:r>
              <a:t>  • Resting: CD3ζ ITAMs sequestered in membrane</a:t>
            </a:r>
          </a:p>
          <a:p>
            <a:pPr>
              <a:spcAft>
                <a:spcPts val="600"/>
              </a:spcAft>
              <a:defRPr sz="1400">
                <a:solidFill>
                  <a:srgbClr val="333333"/>
                </a:solidFill>
                <a:latin typeface="Calibri"/>
              </a:defRPr>
            </a:pPr>
            <a:r>
              <a:t>  • Force: conformational change releases ITAMs</a:t>
            </a:r>
          </a:p>
          <a:p>
            <a:pPr>
              <a:spcAft>
                <a:spcPts val="600"/>
              </a:spcAft>
              <a:defRPr sz="1400">
                <a:solidFill>
                  <a:srgbClr val="333333"/>
                </a:solidFill>
                <a:latin typeface="Calibri"/>
              </a:defRPr>
            </a:pPr>
            <a:r>
              <a:t>  • Exposed ITAMs → Lck phosphorylation → ZAP-70</a:t>
            </a:r>
          </a:p>
          <a:p>
            <a:pPr>
              <a:spcAft>
                <a:spcPts val="600"/>
              </a:spcAft>
              <a:defRPr sz="1400">
                <a:solidFill>
                  <a:srgbClr val="333333"/>
                </a:solidFill>
                <a:latin typeface="Calibri"/>
              </a:defRPr>
            </a:pPr>
          </a:p>
          <a:p>
            <a:pPr>
              <a:spcAft>
                <a:spcPts val="600"/>
              </a:spcAft>
              <a:defRPr sz="1400">
                <a:solidFill>
                  <a:srgbClr val="333333"/>
                </a:solidFill>
                <a:latin typeface="Calibri"/>
              </a:defRPr>
            </a:pPr>
            <a:r>
              <a:t>Force Measurements (DNA tension probes):</a:t>
            </a:r>
          </a:p>
          <a:p>
            <a:pPr>
              <a:spcAft>
                <a:spcPts val="600"/>
              </a:spcAft>
              <a:defRPr sz="1400">
                <a:solidFill>
                  <a:srgbClr val="333333"/>
                </a:solidFill>
                <a:latin typeface="Calibri"/>
              </a:defRPr>
            </a:pPr>
            <a:r>
              <a:t>  • TCR samples pMHC with &gt;4.7 pN force</a:t>
            </a:r>
          </a:p>
          <a:p>
            <a:pPr>
              <a:spcAft>
                <a:spcPts val="600"/>
              </a:spcAft>
              <a:defRPr sz="1400">
                <a:solidFill>
                  <a:srgbClr val="333333"/>
                </a:solidFill>
                <a:latin typeface="Calibri"/>
              </a:defRPr>
            </a:pPr>
            <a:r>
              <a:t>  • Naive T cells: 12-19 pN within seconds</a:t>
            </a:r>
          </a:p>
          <a:p>
            <a:pPr>
              <a:spcAft>
                <a:spcPts val="600"/>
              </a:spcAft>
              <a:defRPr sz="1400">
                <a:solidFill>
                  <a:srgbClr val="333333"/>
                </a:solidFill>
                <a:latin typeface="Calibri"/>
              </a:defRPr>
            </a:pPr>
            <a:r>
              <a:t>  • Precedes calcium signaling</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Brazin et al., 2015, PNAS; Kim et al., 2009, JBC; Liu et al., 2016, PNAS; Ma et al., 2019, PNAS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Self vs Non-Self: TCR Affinity Windows</a:t>
            </a:r>
          </a:p>
        </p:txBody>
      </p:sp>
      <p:pic>
        <p:nvPicPr>
          <p:cNvPr id="3" name="Picture 2" descr="affinity_windows.png"/>
          <p:cNvPicPr>
            <a:picLocks noChangeAspect="1"/>
          </p:cNvPicPr>
          <p:nvPr/>
        </p:nvPicPr>
        <p:blipFill>
          <a:blip r:embed="rId2"/>
          <a:stretch>
            <a:fillRect/>
          </a:stretch>
        </p:blipFill>
        <p:spPr>
          <a:xfrm>
            <a:off x="274320" y="1097280"/>
            <a:ext cx="11612880" cy="4114800"/>
          </a:xfrm>
          <a:prstGeom prst="rect">
            <a:avLst/>
          </a:prstGeom>
        </p:spPr>
      </p:pic>
      <p:sp>
        <p:nvSpPr>
          <p:cNvPr id="4" name="TextBox 3"/>
          <p:cNvSpPr txBox="1"/>
          <p:nvPr/>
        </p:nvSpPr>
        <p:spPr>
          <a:xfrm>
            <a:off x="457200" y="5303520"/>
            <a:ext cx="10972800" cy="1371600"/>
          </a:xfrm>
          <a:prstGeom prst="rect">
            <a:avLst/>
          </a:prstGeom>
          <a:noFill/>
        </p:spPr>
        <p:txBody>
          <a:bodyPr wrap="square">
            <a:spAutoFit/>
          </a:bodyPr>
          <a:lstStyle/>
          <a:p>
            <a:pPr>
              <a:spcAft>
                <a:spcPts val="600"/>
              </a:spcAft>
              <a:defRPr sz="1400">
                <a:solidFill>
                  <a:srgbClr val="333333"/>
                </a:solidFill>
                <a:latin typeface="Calibri"/>
              </a:defRPr>
            </a:pPr>
            <a:r>
              <a:t>• Positive selection (survival): KD ∼ 100-300 μM (Catnb-Kb: 136 μM, Cappa1-Kb: 211 μM)</a:t>
            </a:r>
          </a:p>
          <a:p>
            <a:pPr>
              <a:spcAft>
                <a:spcPts val="600"/>
              </a:spcAft>
              <a:defRPr sz="1400">
                <a:solidFill>
                  <a:srgbClr val="333333"/>
                </a:solidFill>
                <a:latin typeface="Calibri"/>
              </a:defRPr>
            </a:pPr>
            <a:r>
              <a:t>• Negative selection (deletion): KD &lt; 6-10 μM ("danger zone" at ∼6 μM)</a:t>
            </a:r>
          </a:p>
          <a:p>
            <a:pPr>
              <a:spcAft>
                <a:spcPts val="600"/>
              </a:spcAft>
              <a:defRPr sz="1400">
                <a:solidFill>
                  <a:srgbClr val="333333"/>
                </a:solidFill>
                <a:latin typeface="Calibri"/>
              </a:defRPr>
            </a:pPr>
            <a:r>
              <a:t>• Viral antigen TCRs: mean KD ∼ 10 μM | Tumor self-antigen TCRs: mean KD ∼ 100 μM</a:t>
            </a:r>
          </a:p>
          <a:p>
            <a:pPr>
              <a:spcAft>
                <a:spcPts val="600"/>
              </a:spcAft>
              <a:defRPr sz="1400">
                <a:solidFill>
                  <a:srgbClr val="333333"/>
                </a:solidFill>
                <a:latin typeface="Calibri"/>
              </a:defRPr>
            </a:pPr>
            <a:r>
              <a:t>• 10× affinity gap between viral and tumor antigens explains poor anti-tumor T cell responses</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Juang et al., 2010, JEM; Hoffmann &amp; Slansky, 2020, Mol Carcinog 59:862-870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Engineering CAR-T Cells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Why CAR-T?</a:t>
            </a:r>
          </a:p>
          <a:p>
            <a:pPr>
              <a:spcAft>
                <a:spcPts val="600"/>
              </a:spcAft>
              <a:defRPr sz="1500">
                <a:solidFill>
                  <a:srgbClr val="333333"/>
                </a:solidFill>
                <a:latin typeface="Calibri"/>
              </a:defRPr>
            </a:pPr>
            <a:r>
              <a:t>  • No TCR-MHC requirement → overcomes MHC downregulation</a:t>
            </a:r>
          </a:p>
          <a:p>
            <a:pPr>
              <a:spcAft>
                <a:spcPts val="600"/>
              </a:spcAft>
              <a:defRPr sz="1500">
                <a:solidFill>
                  <a:srgbClr val="333333"/>
                </a:solidFill>
                <a:latin typeface="Calibri"/>
              </a:defRPr>
            </a:pPr>
            <a:r>
              <a:t>  • Direct antigen recognition via scFv/nanobody</a:t>
            </a:r>
          </a:p>
          <a:p>
            <a:pPr>
              <a:spcAft>
                <a:spcPts val="600"/>
              </a:spcAft>
              <a:defRPr sz="1500">
                <a:solidFill>
                  <a:srgbClr val="333333"/>
                </a:solidFill>
                <a:latin typeface="Calibri"/>
              </a:defRPr>
            </a:pPr>
            <a:r>
              <a:t>  • Tunable signal amplitude via costimulatory domain choice</a:t>
            </a:r>
          </a:p>
          <a:p>
            <a:pPr>
              <a:spcAft>
                <a:spcPts val="600"/>
              </a:spcAft>
              <a:defRPr sz="1500">
                <a:solidFill>
                  <a:srgbClr val="333333"/>
                </a:solidFill>
                <a:latin typeface="Calibri"/>
              </a:defRPr>
            </a:pPr>
          </a:p>
          <a:p>
            <a:pPr>
              <a:spcAft>
                <a:spcPts val="600"/>
              </a:spcAft>
              <a:defRPr sz="1500">
                <a:solidFill>
                  <a:srgbClr val="333333"/>
                </a:solidFill>
                <a:latin typeface="Calibri"/>
              </a:defRPr>
            </a:pPr>
            <a:r>
              <a:t>CAR Architecture (Generations):</a:t>
            </a:r>
          </a:p>
          <a:p>
            <a:pPr>
              <a:spcAft>
                <a:spcPts val="600"/>
              </a:spcAft>
              <a:defRPr sz="1500">
                <a:solidFill>
                  <a:srgbClr val="333333"/>
                </a:solidFill>
                <a:latin typeface="Calibri"/>
              </a:defRPr>
            </a:pPr>
            <a:r>
              <a:t>  • 1st Gen: scFv - hinge - TM - CD3ζ (signaling only)</a:t>
            </a:r>
          </a:p>
          <a:p>
            <a:pPr>
              <a:spcAft>
                <a:spcPts val="600"/>
              </a:spcAft>
              <a:defRPr sz="1500">
                <a:solidFill>
                  <a:srgbClr val="333333"/>
                </a:solidFill>
                <a:latin typeface="Calibri"/>
              </a:defRPr>
            </a:pPr>
            <a:r>
              <a:t>  • 2nd Gen: + one costimulatory domain (CD28 or 4-1BB)</a:t>
            </a:r>
          </a:p>
          <a:p>
            <a:pPr>
              <a:spcAft>
                <a:spcPts val="600"/>
              </a:spcAft>
              <a:defRPr sz="1500">
                <a:solidFill>
                  <a:srgbClr val="333333"/>
                </a:solidFill>
                <a:latin typeface="Calibri"/>
              </a:defRPr>
            </a:pPr>
            <a:r>
              <a:t>  • 3rd Gen: + two costimulatory domains</a:t>
            </a:r>
          </a:p>
          <a:p>
            <a:pPr>
              <a:spcAft>
                <a:spcPts val="600"/>
              </a:spcAft>
              <a:defRPr sz="1500">
                <a:solidFill>
                  <a:srgbClr val="333333"/>
                </a:solidFill>
                <a:latin typeface="Calibri"/>
              </a:defRPr>
            </a:pPr>
            <a:r>
              <a:t>  • 4th Gen: + cytokine/checkpoint modulator ("armored CARs")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Key Design Choices That Affect Signaling:</a:t>
            </a:r>
          </a:p>
          <a:p>
            <a:pPr>
              <a:spcAft>
                <a:spcPts val="600"/>
              </a:spcAft>
              <a:defRPr sz="1500">
                <a:solidFill>
                  <a:srgbClr val="333333"/>
                </a:solidFill>
                <a:latin typeface="Calibri"/>
              </a:defRPr>
            </a:pPr>
            <a:r>
              <a:t>  • scFv affinity and kinetics (kon, koff)</a:t>
            </a:r>
          </a:p>
          <a:p>
            <a:pPr>
              <a:spcAft>
                <a:spcPts val="600"/>
              </a:spcAft>
              <a:defRPr sz="1500">
                <a:solidFill>
                  <a:srgbClr val="333333"/>
                </a:solidFill>
                <a:latin typeface="Calibri"/>
              </a:defRPr>
            </a:pPr>
            <a:r>
              <a:t>  • Hinge length and flexibility</a:t>
            </a:r>
          </a:p>
          <a:p>
            <a:pPr>
              <a:spcAft>
                <a:spcPts val="600"/>
              </a:spcAft>
              <a:defRPr sz="1500">
                <a:solidFill>
                  <a:srgbClr val="333333"/>
                </a:solidFill>
                <a:latin typeface="Calibri"/>
              </a:defRPr>
            </a:pPr>
            <a:r>
              <a:t>  • Costimulatory domain (CD28 vs 4-1BB)</a:t>
            </a:r>
          </a:p>
          <a:p>
            <a:pPr>
              <a:spcAft>
                <a:spcPts val="600"/>
              </a:spcAft>
              <a:defRPr sz="1500">
                <a:solidFill>
                  <a:srgbClr val="333333"/>
                </a:solidFill>
                <a:latin typeface="Calibri"/>
              </a:defRPr>
            </a:pPr>
            <a:r>
              <a:t>  • Number and position of ITAMs in CD3ζ</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Tokarew et al., 2018, Br J Cancer; Jogalekar et al., 2022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CAR Synapse vs TCR Synapse: Key Differences</a:t>
            </a:r>
          </a:p>
        </p:txBody>
      </p:sp>
      <p:sp>
        <p:nvSpPr>
          <p:cNvPr id="3" name="TextBox 2"/>
          <p:cNvSpPr txBox="1"/>
          <p:nvPr/>
        </p:nvSpPr>
        <p:spPr>
          <a:xfrm>
            <a:off x="457200" y="1371600"/>
            <a:ext cx="3474720" cy="457200"/>
          </a:xfrm>
          <a:prstGeom prst="rect">
            <a:avLst/>
          </a:prstGeom>
          <a:noFill/>
        </p:spPr>
        <p:txBody>
          <a:bodyPr wrap="square">
            <a:spAutoFit/>
          </a:bodyPr>
          <a:lstStyle/>
          <a:p>
            <a:pPr algn="l">
              <a:defRPr sz="1600" b="1">
                <a:solidFill>
                  <a:srgbClr val="333333"/>
                </a:solidFill>
                <a:latin typeface="Calibri"/>
              </a:defRPr>
            </a:pPr>
            <a:r>
              <a:t>Structure</a:t>
            </a:r>
          </a:p>
        </p:txBody>
      </p:sp>
      <p:sp>
        <p:nvSpPr>
          <p:cNvPr id="4" name="TextBox 3"/>
          <p:cNvSpPr txBox="1"/>
          <p:nvPr/>
        </p:nvSpPr>
        <p:spPr>
          <a:xfrm>
            <a:off x="4114800" y="1371600"/>
            <a:ext cx="3474720" cy="457200"/>
          </a:xfrm>
          <a:prstGeom prst="rect">
            <a:avLst/>
          </a:prstGeom>
          <a:noFill/>
        </p:spPr>
        <p:txBody>
          <a:bodyPr wrap="square">
            <a:spAutoFit/>
          </a:bodyPr>
          <a:lstStyle/>
          <a:p>
            <a:pPr algn="l">
              <a:defRPr sz="1600" b="1">
                <a:solidFill>
                  <a:srgbClr val="333333"/>
                </a:solidFill>
                <a:latin typeface="Calibri"/>
              </a:defRPr>
            </a:pPr>
            <a:r>
              <a:t>Classical "bull's-eye" rings</a:t>
            </a:r>
          </a:p>
        </p:txBody>
      </p:sp>
      <p:sp>
        <p:nvSpPr>
          <p:cNvPr id="5" name="TextBox 4"/>
          <p:cNvSpPr txBox="1"/>
          <p:nvPr/>
        </p:nvSpPr>
        <p:spPr>
          <a:xfrm>
            <a:off x="7772400" y="1371600"/>
            <a:ext cx="3474720" cy="457200"/>
          </a:xfrm>
          <a:prstGeom prst="rect">
            <a:avLst/>
          </a:prstGeom>
          <a:noFill/>
        </p:spPr>
        <p:txBody>
          <a:bodyPr wrap="square">
            <a:spAutoFit/>
          </a:bodyPr>
          <a:lstStyle/>
          <a:p>
            <a:pPr algn="l">
              <a:defRPr sz="1600" b="1">
                <a:solidFill>
                  <a:srgbClr val="333333"/>
                </a:solidFill>
                <a:latin typeface="Calibri"/>
              </a:defRPr>
            </a:pPr>
            <a:r>
              <a:t>Disorganized, nonclassical</a:t>
            </a:r>
          </a:p>
        </p:txBody>
      </p:sp>
      <p:sp>
        <p:nvSpPr>
          <p:cNvPr id="6" name="TextBox 5"/>
          <p:cNvSpPr txBox="1"/>
          <p:nvPr/>
        </p:nvSpPr>
        <p:spPr>
          <a:xfrm>
            <a:off x="457200" y="1874519"/>
            <a:ext cx="3474720" cy="457200"/>
          </a:xfrm>
          <a:prstGeom prst="rect">
            <a:avLst/>
          </a:prstGeom>
          <a:noFill/>
        </p:spPr>
        <p:txBody>
          <a:bodyPr wrap="square">
            <a:spAutoFit/>
          </a:bodyPr>
          <a:lstStyle/>
          <a:p>
            <a:pPr algn="l">
              <a:defRPr sz="1400" b="1">
                <a:solidFill>
                  <a:srgbClr val="333333"/>
                </a:solidFill>
                <a:latin typeface="Calibri"/>
              </a:defRPr>
            </a:pPr>
            <a:r>
              <a:t>Lck pattern</a:t>
            </a:r>
          </a:p>
        </p:txBody>
      </p:sp>
      <p:sp>
        <p:nvSpPr>
          <p:cNvPr id="7" name="TextBox 6"/>
          <p:cNvSpPr txBox="1"/>
          <p:nvPr/>
        </p:nvSpPr>
        <p:spPr>
          <a:xfrm>
            <a:off x="4114800" y="1874519"/>
            <a:ext cx="3474720" cy="457200"/>
          </a:xfrm>
          <a:prstGeom prst="rect">
            <a:avLst/>
          </a:prstGeom>
          <a:noFill/>
        </p:spPr>
        <p:txBody>
          <a:bodyPr wrap="square">
            <a:spAutoFit/>
          </a:bodyPr>
          <a:lstStyle/>
          <a:p>
            <a:pPr algn="l">
              <a:defRPr sz="1400" b="0">
                <a:solidFill>
                  <a:srgbClr val="333333"/>
                </a:solidFill>
                <a:latin typeface="Calibri"/>
              </a:defRPr>
            </a:pPr>
            <a:r>
              <a:t>Organized, central</a:t>
            </a:r>
          </a:p>
        </p:txBody>
      </p:sp>
      <p:sp>
        <p:nvSpPr>
          <p:cNvPr id="8" name="TextBox 7"/>
          <p:cNvSpPr txBox="1"/>
          <p:nvPr/>
        </p:nvSpPr>
        <p:spPr>
          <a:xfrm>
            <a:off x="7772400" y="1874519"/>
            <a:ext cx="3474720" cy="457200"/>
          </a:xfrm>
          <a:prstGeom prst="rect">
            <a:avLst/>
          </a:prstGeom>
          <a:noFill/>
        </p:spPr>
        <p:txBody>
          <a:bodyPr wrap="square">
            <a:spAutoFit/>
          </a:bodyPr>
          <a:lstStyle/>
          <a:p>
            <a:pPr algn="l">
              <a:defRPr sz="1400" b="0">
                <a:solidFill>
                  <a:srgbClr val="333333"/>
                </a:solidFill>
                <a:latin typeface="Calibri"/>
              </a:defRPr>
            </a:pPr>
            <a:r>
              <a:t>Disorganized multifocal</a:t>
            </a:r>
          </a:p>
        </p:txBody>
      </p:sp>
      <p:sp>
        <p:nvSpPr>
          <p:cNvPr id="9" name="TextBox 8"/>
          <p:cNvSpPr txBox="1"/>
          <p:nvPr/>
        </p:nvSpPr>
        <p:spPr>
          <a:xfrm>
            <a:off x="457200" y="2377440"/>
            <a:ext cx="3474720" cy="457200"/>
          </a:xfrm>
          <a:prstGeom prst="rect">
            <a:avLst/>
          </a:prstGeom>
          <a:noFill/>
        </p:spPr>
        <p:txBody>
          <a:bodyPr wrap="square">
            <a:spAutoFit/>
          </a:bodyPr>
          <a:lstStyle/>
          <a:p>
            <a:pPr algn="l">
              <a:defRPr sz="1400" b="1">
                <a:solidFill>
                  <a:srgbClr val="333333"/>
                </a:solidFill>
                <a:latin typeface="Calibri"/>
              </a:defRPr>
            </a:pPr>
            <a:r>
              <a:t>LFA-1</a:t>
            </a:r>
          </a:p>
        </p:txBody>
      </p:sp>
      <p:sp>
        <p:nvSpPr>
          <p:cNvPr id="10" name="TextBox 9"/>
          <p:cNvSpPr txBox="1"/>
          <p:nvPr/>
        </p:nvSpPr>
        <p:spPr>
          <a:xfrm>
            <a:off x="4114800" y="2377440"/>
            <a:ext cx="3474720" cy="457200"/>
          </a:xfrm>
          <a:prstGeom prst="rect">
            <a:avLst/>
          </a:prstGeom>
          <a:noFill/>
        </p:spPr>
        <p:txBody>
          <a:bodyPr wrap="square">
            <a:spAutoFit/>
          </a:bodyPr>
          <a:lstStyle/>
          <a:p>
            <a:pPr algn="l">
              <a:defRPr sz="1400" b="0">
                <a:solidFill>
                  <a:srgbClr val="333333"/>
                </a:solidFill>
                <a:latin typeface="Calibri"/>
              </a:defRPr>
            </a:pPr>
            <a:r>
              <a:t>Distinct peripheral ring</a:t>
            </a:r>
          </a:p>
        </p:txBody>
      </p:sp>
      <p:sp>
        <p:nvSpPr>
          <p:cNvPr id="11" name="TextBox 10"/>
          <p:cNvSpPr txBox="1"/>
          <p:nvPr/>
        </p:nvSpPr>
        <p:spPr>
          <a:xfrm>
            <a:off x="7772400" y="2377440"/>
            <a:ext cx="3474720" cy="457200"/>
          </a:xfrm>
          <a:prstGeom prst="rect">
            <a:avLst/>
          </a:prstGeom>
          <a:noFill/>
        </p:spPr>
        <p:txBody>
          <a:bodyPr wrap="square">
            <a:spAutoFit/>
          </a:bodyPr>
          <a:lstStyle/>
          <a:p>
            <a:pPr algn="l">
              <a:defRPr sz="1400" b="0">
                <a:solidFill>
                  <a:srgbClr val="333333"/>
                </a:solidFill>
                <a:latin typeface="Calibri"/>
              </a:defRPr>
            </a:pPr>
            <a:r>
              <a:t>No distinct ring</a:t>
            </a:r>
          </a:p>
        </p:txBody>
      </p:sp>
      <p:sp>
        <p:nvSpPr>
          <p:cNvPr id="12" name="TextBox 11"/>
          <p:cNvSpPr txBox="1"/>
          <p:nvPr/>
        </p:nvSpPr>
        <p:spPr>
          <a:xfrm>
            <a:off x="457200" y="2880360"/>
            <a:ext cx="3474720" cy="457200"/>
          </a:xfrm>
          <a:prstGeom prst="rect">
            <a:avLst/>
          </a:prstGeom>
          <a:noFill/>
        </p:spPr>
        <p:txBody>
          <a:bodyPr wrap="square">
            <a:spAutoFit/>
          </a:bodyPr>
          <a:lstStyle/>
          <a:p>
            <a:pPr algn="l">
              <a:defRPr sz="1400" b="1">
                <a:solidFill>
                  <a:srgbClr val="333333"/>
                </a:solidFill>
                <a:latin typeface="Calibri"/>
              </a:defRPr>
            </a:pPr>
            <a:r>
              <a:t>LFA-1 dependence</a:t>
            </a:r>
          </a:p>
        </p:txBody>
      </p:sp>
      <p:sp>
        <p:nvSpPr>
          <p:cNvPr id="13" name="TextBox 12"/>
          <p:cNvSpPr txBox="1"/>
          <p:nvPr/>
        </p:nvSpPr>
        <p:spPr>
          <a:xfrm>
            <a:off x="4114800" y="2880360"/>
            <a:ext cx="3474720" cy="457200"/>
          </a:xfrm>
          <a:prstGeom prst="rect">
            <a:avLst/>
          </a:prstGeom>
          <a:noFill/>
        </p:spPr>
        <p:txBody>
          <a:bodyPr wrap="square">
            <a:spAutoFit/>
          </a:bodyPr>
          <a:lstStyle/>
          <a:p>
            <a:pPr algn="l">
              <a:defRPr sz="1400" b="0">
                <a:solidFill>
                  <a:srgbClr val="333333"/>
                </a:solidFill>
                <a:latin typeface="Calibri"/>
              </a:defRPr>
            </a:pPr>
            <a:r>
              <a:t>Highly dependent</a:t>
            </a:r>
          </a:p>
        </p:txBody>
      </p:sp>
      <p:sp>
        <p:nvSpPr>
          <p:cNvPr id="14" name="TextBox 13"/>
          <p:cNvSpPr txBox="1"/>
          <p:nvPr/>
        </p:nvSpPr>
        <p:spPr>
          <a:xfrm>
            <a:off x="7772400" y="2880360"/>
            <a:ext cx="3474720" cy="457200"/>
          </a:xfrm>
          <a:prstGeom prst="rect">
            <a:avLst/>
          </a:prstGeom>
          <a:noFill/>
        </p:spPr>
        <p:txBody>
          <a:bodyPr wrap="square">
            <a:spAutoFit/>
          </a:bodyPr>
          <a:lstStyle/>
          <a:p>
            <a:pPr algn="l">
              <a:defRPr sz="1400" b="0">
                <a:solidFill>
                  <a:srgbClr val="333333"/>
                </a:solidFill>
                <a:latin typeface="Calibri"/>
              </a:defRPr>
            </a:pPr>
            <a:r>
              <a:t>Killing unimpaired by blockade</a:t>
            </a:r>
          </a:p>
        </p:txBody>
      </p:sp>
      <p:sp>
        <p:nvSpPr>
          <p:cNvPr id="15" name="TextBox 14"/>
          <p:cNvSpPr txBox="1"/>
          <p:nvPr/>
        </p:nvSpPr>
        <p:spPr>
          <a:xfrm>
            <a:off x="457200" y="3383280"/>
            <a:ext cx="3474720" cy="457200"/>
          </a:xfrm>
          <a:prstGeom prst="rect">
            <a:avLst/>
          </a:prstGeom>
          <a:noFill/>
        </p:spPr>
        <p:txBody>
          <a:bodyPr wrap="square">
            <a:spAutoFit/>
          </a:bodyPr>
          <a:lstStyle/>
          <a:p>
            <a:pPr algn="l">
              <a:defRPr sz="1400" b="1">
                <a:solidFill>
                  <a:srgbClr val="333333"/>
                </a:solidFill>
                <a:latin typeface="Calibri"/>
              </a:defRPr>
            </a:pPr>
            <a:r>
              <a:t>Granule recruitment</a:t>
            </a:r>
          </a:p>
        </p:txBody>
      </p:sp>
      <p:sp>
        <p:nvSpPr>
          <p:cNvPr id="16" name="TextBox 15"/>
          <p:cNvSpPr txBox="1"/>
          <p:nvPr/>
        </p:nvSpPr>
        <p:spPr>
          <a:xfrm>
            <a:off x="4114800" y="3383280"/>
            <a:ext cx="3474720" cy="457200"/>
          </a:xfrm>
          <a:prstGeom prst="rect">
            <a:avLst/>
          </a:prstGeom>
          <a:noFill/>
        </p:spPr>
        <p:txBody>
          <a:bodyPr wrap="square">
            <a:spAutoFit/>
          </a:bodyPr>
          <a:lstStyle/>
          <a:p>
            <a:pPr algn="l">
              <a:defRPr sz="1400" b="0">
                <a:solidFill>
                  <a:srgbClr val="333333"/>
                </a:solidFill>
                <a:latin typeface="Calibri"/>
              </a:defRPr>
            </a:pPr>
            <a:r>
              <a:t>Standard timing</a:t>
            </a:r>
          </a:p>
        </p:txBody>
      </p:sp>
      <p:sp>
        <p:nvSpPr>
          <p:cNvPr id="17" name="TextBox 16"/>
          <p:cNvSpPr txBox="1"/>
          <p:nvPr/>
        </p:nvSpPr>
        <p:spPr>
          <a:xfrm>
            <a:off x="7772400" y="3383280"/>
            <a:ext cx="3474720" cy="457200"/>
          </a:xfrm>
          <a:prstGeom prst="rect">
            <a:avLst/>
          </a:prstGeom>
          <a:noFill/>
        </p:spPr>
        <p:txBody>
          <a:bodyPr wrap="square">
            <a:spAutoFit/>
          </a:bodyPr>
          <a:lstStyle/>
          <a:p>
            <a:pPr algn="l">
              <a:defRPr sz="1400" b="0">
                <a:solidFill>
                  <a:srgbClr val="333333"/>
                </a:solidFill>
                <a:latin typeface="Calibri"/>
              </a:defRPr>
            </a:pPr>
            <a:r>
              <a:t>Faster recruitment</a:t>
            </a:r>
          </a:p>
        </p:txBody>
      </p:sp>
      <p:sp>
        <p:nvSpPr>
          <p:cNvPr id="18" name="TextBox 17"/>
          <p:cNvSpPr txBox="1"/>
          <p:nvPr/>
        </p:nvSpPr>
        <p:spPr>
          <a:xfrm>
            <a:off x="457200" y="3886200"/>
            <a:ext cx="3474720" cy="457200"/>
          </a:xfrm>
          <a:prstGeom prst="rect">
            <a:avLst/>
          </a:prstGeom>
          <a:noFill/>
        </p:spPr>
        <p:txBody>
          <a:bodyPr wrap="square">
            <a:spAutoFit/>
          </a:bodyPr>
          <a:lstStyle/>
          <a:p>
            <a:pPr algn="l">
              <a:defRPr sz="1400" b="1">
                <a:solidFill>
                  <a:srgbClr val="333333"/>
                </a:solidFill>
                <a:latin typeface="Calibri"/>
              </a:defRPr>
            </a:pPr>
            <a:r>
              <a:t>Killing kinetics</a:t>
            </a:r>
          </a:p>
        </p:txBody>
      </p:sp>
      <p:sp>
        <p:nvSpPr>
          <p:cNvPr id="19" name="TextBox 18"/>
          <p:cNvSpPr txBox="1"/>
          <p:nvPr/>
        </p:nvSpPr>
        <p:spPr>
          <a:xfrm>
            <a:off x="4114800" y="3886200"/>
            <a:ext cx="3474720" cy="457200"/>
          </a:xfrm>
          <a:prstGeom prst="rect">
            <a:avLst/>
          </a:prstGeom>
          <a:noFill/>
        </p:spPr>
        <p:txBody>
          <a:bodyPr wrap="square">
            <a:spAutoFit/>
          </a:bodyPr>
          <a:lstStyle/>
          <a:p>
            <a:pPr algn="l">
              <a:defRPr sz="1400" b="0">
                <a:solidFill>
                  <a:srgbClr val="333333"/>
                </a:solidFill>
                <a:latin typeface="Calibri"/>
              </a:defRPr>
            </a:pPr>
            <a:r>
              <a:t>Standard</a:t>
            </a:r>
          </a:p>
        </p:txBody>
      </p:sp>
      <p:sp>
        <p:nvSpPr>
          <p:cNvPr id="20" name="TextBox 19"/>
          <p:cNvSpPr txBox="1"/>
          <p:nvPr/>
        </p:nvSpPr>
        <p:spPr>
          <a:xfrm>
            <a:off x="7772400" y="3886200"/>
            <a:ext cx="3474720" cy="457200"/>
          </a:xfrm>
          <a:prstGeom prst="rect">
            <a:avLst/>
          </a:prstGeom>
          <a:noFill/>
        </p:spPr>
        <p:txBody>
          <a:bodyPr wrap="square">
            <a:spAutoFit/>
          </a:bodyPr>
          <a:lstStyle/>
          <a:p>
            <a:pPr algn="l">
              <a:defRPr sz="1400" b="0">
                <a:solidFill>
                  <a:srgbClr val="333333"/>
                </a:solidFill>
                <a:latin typeface="Calibri"/>
              </a:defRPr>
            </a:pPr>
            <a:r>
              <a:t>Faster killing &amp; detachment</a:t>
            </a:r>
          </a:p>
        </p:txBody>
      </p:sp>
      <p:sp>
        <p:nvSpPr>
          <p:cNvPr id="21" name="TextBox 20"/>
          <p:cNvSpPr txBox="1"/>
          <p:nvPr/>
        </p:nvSpPr>
        <p:spPr>
          <a:xfrm>
            <a:off x="457200" y="4389120"/>
            <a:ext cx="3474720" cy="457200"/>
          </a:xfrm>
          <a:prstGeom prst="rect">
            <a:avLst/>
          </a:prstGeom>
          <a:noFill/>
        </p:spPr>
        <p:txBody>
          <a:bodyPr wrap="square">
            <a:spAutoFit/>
          </a:bodyPr>
          <a:lstStyle/>
          <a:p>
            <a:pPr algn="l">
              <a:defRPr sz="1400" b="1">
                <a:solidFill>
                  <a:srgbClr val="333333"/>
                </a:solidFill>
                <a:latin typeface="Calibri"/>
              </a:defRPr>
            </a:pPr>
            <a:r>
              <a:t>Affinity regime</a:t>
            </a:r>
          </a:p>
        </p:txBody>
      </p:sp>
      <p:sp>
        <p:nvSpPr>
          <p:cNvPr id="22" name="TextBox 21"/>
          <p:cNvSpPr txBox="1"/>
          <p:nvPr/>
        </p:nvSpPr>
        <p:spPr>
          <a:xfrm>
            <a:off x="4114800" y="4389120"/>
            <a:ext cx="3474720" cy="457200"/>
          </a:xfrm>
          <a:prstGeom prst="rect">
            <a:avLst/>
          </a:prstGeom>
          <a:noFill/>
        </p:spPr>
        <p:txBody>
          <a:bodyPr wrap="square">
            <a:spAutoFit/>
          </a:bodyPr>
          <a:lstStyle/>
          <a:p>
            <a:pPr algn="l">
              <a:defRPr sz="1400" b="0">
                <a:solidFill>
                  <a:srgbClr val="333333"/>
                </a:solidFill>
                <a:latin typeface="Calibri"/>
              </a:defRPr>
            </a:pPr>
            <a:r>
              <a:t>1-100 μM (micromolar)</a:t>
            </a:r>
          </a:p>
        </p:txBody>
      </p:sp>
      <p:sp>
        <p:nvSpPr>
          <p:cNvPr id="23" name="TextBox 22"/>
          <p:cNvSpPr txBox="1"/>
          <p:nvPr/>
        </p:nvSpPr>
        <p:spPr>
          <a:xfrm>
            <a:off x="7772400" y="4389120"/>
            <a:ext cx="3474720" cy="457200"/>
          </a:xfrm>
          <a:prstGeom prst="rect">
            <a:avLst/>
          </a:prstGeom>
          <a:noFill/>
        </p:spPr>
        <p:txBody>
          <a:bodyPr wrap="square">
            <a:spAutoFit/>
          </a:bodyPr>
          <a:lstStyle/>
          <a:p>
            <a:pPr algn="l">
              <a:defRPr sz="1400" b="0">
                <a:solidFill>
                  <a:srgbClr val="333333"/>
                </a:solidFill>
                <a:latin typeface="Calibri"/>
              </a:defRPr>
            </a:pPr>
            <a:r>
              <a:t>0.1-10 nM (nanomolar)</a:t>
            </a:r>
          </a:p>
        </p:txBody>
      </p:sp>
      <p:sp>
        <p:nvSpPr>
          <p:cNvPr id="24" name="TextBox 23"/>
          <p:cNvSpPr txBox="1"/>
          <p:nvPr/>
        </p:nvSpPr>
        <p:spPr>
          <a:xfrm>
            <a:off x="457200" y="4892040"/>
            <a:ext cx="3474720" cy="457200"/>
          </a:xfrm>
          <a:prstGeom prst="rect">
            <a:avLst/>
          </a:prstGeom>
          <a:noFill/>
        </p:spPr>
        <p:txBody>
          <a:bodyPr wrap="square">
            <a:spAutoFit/>
          </a:bodyPr>
          <a:lstStyle/>
          <a:p>
            <a:pPr algn="l">
              <a:defRPr sz="1400" b="1">
                <a:solidFill>
                  <a:srgbClr val="333333"/>
                </a:solidFill>
                <a:latin typeface="Calibri"/>
              </a:defRPr>
            </a:pPr>
            <a:r>
              <a:t>Bond type under force</a:t>
            </a:r>
          </a:p>
        </p:txBody>
      </p:sp>
      <p:sp>
        <p:nvSpPr>
          <p:cNvPr id="25" name="TextBox 24"/>
          <p:cNvSpPr txBox="1"/>
          <p:nvPr/>
        </p:nvSpPr>
        <p:spPr>
          <a:xfrm>
            <a:off x="4114800" y="4892040"/>
            <a:ext cx="3474720" cy="457200"/>
          </a:xfrm>
          <a:prstGeom prst="rect">
            <a:avLst/>
          </a:prstGeom>
          <a:noFill/>
        </p:spPr>
        <p:txBody>
          <a:bodyPr wrap="square">
            <a:spAutoFit/>
          </a:bodyPr>
          <a:lstStyle/>
          <a:p>
            <a:pPr algn="l">
              <a:defRPr sz="1400" b="0">
                <a:solidFill>
                  <a:srgbClr val="333333"/>
                </a:solidFill>
                <a:latin typeface="Calibri"/>
              </a:defRPr>
            </a:pPr>
            <a:r>
              <a:t>Catch bond (agonist)</a:t>
            </a:r>
          </a:p>
        </p:txBody>
      </p:sp>
      <p:sp>
        <p:nvSpPr>
          <p:cNvPr id="26" name="TextBox 25"/>
          <p:cNvSpPr txBox="1"/>
          <p:nvPr/>
        </p:nvSpPr>
        <p:spPr>
          <a:xfrm>
            <a:off x="7772400" y="4892040"/>
            <a:ext cx="3474720" cy="457200"/>
          </a:xfrm>
          <a:prstGeom prst="rect">
            <a:avLst/>
          </a:prstGeom>
          <a:noFill/>
        </p:spPr>
        <p:txBody>
          <a:bodyPr wrap="square">
            <a:spAutoFit/>
          </a:bodyPr>
          <a:lstStyle/>
          <a:p>
            <a:pPr algn="l">
              <a:defRPr sz="1400" b="0">
                <a:solidFill>
                  <a:srgbClr val="333333"/>
                </a:solidFill>
                <a:latin typeface="Calibri"/>
              </a:defRPr>
            </a:pPr>
            <a:r>
              <a:t>Likely slip bond (unknown)</a:t>
            </a:r>
          </a:p>
        </p:txBody>
      </p:sp>
      <p:sp>
        <p:nvSpPr>
          <p:cNvPr id="27" name="Rectangle 26"/>
          <p:cNvSpPr/>
          <p:nvPr/>
        </p:nvSpPr>
        <p:spPr>
          <a:xfrm>
            <a:off x="457200" y="1097280"/>
            <a:ext cx="347472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Feature</a:t>
            </a:r>
          </a:p>
        </p:txBody>
      </p:sp>
      <p:sp>
        <p:nvSpPr>
          <p:cNvPr id="28" name="Rectangle 27"/>
          <p:cNvSpPr/>
          <p:nvPr/>
        </p:nvSpPr>
        <p:spPr>
          <a:xfrm>
            <a:off x="4114800" y="1097280"/>
            <a:ext cx="347472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TCR Synapse</a:t>
            </a:r>
          </a:p>
        </p:txBody>
      </p:sp>
      <p:sp>
        <p:nvSpPr>
          <p:cNvPr id="29" name="Rectangle 28"/>
          <p:cNvSpPr/>
          <p:nvPr/>
        </p:nvSpPr>
        <p:spPr>
          <a:xfrm>
            <a:off x="7772400" y="1097280"/>
            <a:ext cx="347472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CAR Synapse</a:t>
            </a:r>
          </a:p>
        </p:txBody>
      </p:sp>
      <p:sp>
        <p:nvSpPr>
          <p:cNvPr id="30" name="TextBox 29"/>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Davenport et al., 2018, PNAS 115:E2068-E2076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Affinity Mismatch Problem in CAR-T Therapy</a:t>
            </a:r>
          </a:p>
        </p:txBody>
      </p:sp>
      <p:pic>
        <p:nvPicPr>
          <p:cNvPr id="3" name="Picture 2" descr="car_vs_tcr_affinity.png"/>
          <p:cNvPicPr>
            <a:picLocks noChangeAspect="1"/>
          </p:cNvPicPr>
          <p:nvPr/>
        </p:nvPicPr>
        <p:blipFill>
          <a:blip r:embed="rId2"/>
          <a:stretch>
            <a:fillRect/>
          </a:stretch>
        </p:blipFill>
        <p:spPr>
          <a:xfrm>
            <a:off x="274320" y="1005840"/>
            <a:ext cx="6858000" cy="4114800"/>
          </a:xfrm>
          <a:prstGeom prst="rect">
            <a:avLst/>
          </a:prstGeom>
        </p:spPr>
      </p:pic>
      <p:sp>
        <p:nvSpPr>
          <p:cNvPr id="4" name="TextBox 3"/>
          <p:cNvSpPr txBox="1"/>
          <p:nvPr/>
        </p:nvSpPr>
        <p:spPr>
          <a:xfrm>
            <a:off x="7589520" y="1005840"/>
            <a:ext cx="4114800" cy="5029200"/>
          </a:xfrm>
          <a:prstGeom prst="rect">
            <a:avLst/>
          </a:prstGeom>
          <a:noFill/>
        </p:spPr>
        <p:txBody>
          <a:bodyPr wrap="square">
            <a:spAutoFit/>
          </a:bodyPr>
          <a:lstStyle/>
          <a:p>
            <a:pPr>
              <a:spcAft>
                <a:spcPts val="600"/>
              </a:spcAft>
              <a:defRPr sz="1300">
                <a:solidFill>
                  <a:srgbClr val="333333"/>
                </a:solidFill>
                <a:latin typeface="Calibri"/>
              </a:defRPr>
            </a:pPr>
            <a:r>
              <a:t>Consequences of Supraphysiological</a:t>
            </a:r>
          </a:p>
          <a:p>
            <a:pPr>
              <a:spcAft>
                <a:spcPts val="600"/>
              </a:spcAft>
              <a:defRPr sz="1300">
                <a:solidFill>
                  <a:srgbClr val="333333"/>
                </a:solidFill>
                <a:latin typeface="Calibri"/>
              </a:defRPr>
            </a:pPr>
            <a:r>
              <a:t>CAR Affinity:</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Reduced serial killing</a:t>
            </a:r>
          </a:p>
          <a:p>
            <a:pPr>
              <a:spcAft>
                <a:spcPts val="600"/>
              </a:spcAft>
              <a:defRPr sz="1300">
                <a:solidFill>
                  <a:srgbClr val="333333"/>
                </a:solidFill>
                <a:latin typeface="Calibri"/>
              </a:defRPr>
            </a:pPr>
            <a:r>
              <a:t>  (slow koff blocks disengagement)</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Early exhaustion</a:t>
            </a:r>
          </a:p>
          <a:p>
            <a:pPr>
              <a:spcAft>
                <a:spcPts val="600"/>
              </a:spcAft>
              <a:defRPr sz="1300">
                <a:solidFill>
                  <a:srgbClr val="333333"/>
                </a:solidFill>
                <a:latin typeface="Calibri"/>
              </a:defRPr>
            </a:pPr>
            <a:r>
              <a:t>  (sustained signaling → PD-1, TIM-3)</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Off-tumor toxicity</a:t>
            </a:r>
          </a:p>
          <a:p>
            <a:pPr>
              <a:spcAft>
                <a:spcPts val="600"/>
              </a:spcAft>
              <a:defRPr sz="1300">
                <a:solidFill>
                  <a:srgbClr val="333333"/>
                </a:solidFill>
                <a:latin typeface="Calibri"/>
              </a:defRPr>
            </a:pPr>
            <a:r>
              <a:t>  (detects low Ag on normal tissue)</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Reduced memory formation</a:t>
            </a:r>
          </a:p>
          <a:p>
            <a:pPr>
              <a:spcAft>
                <a:spcPts val="600"/>
              </a:spcAft>
              <a:defRPr sz="1300">
                <a:solidFill>
                  <a:srgbClr val="333333"/>
                </a:solidFill>
                <a:latin typeface="Calibri"/>
              </a:defRPr>
            </a:pPr>
          </a:p>
          <a:p>
            <a:pPr>
              <a:spcAft>
                <a:spcPts val="600"/>
              </a:spcAft>
              <a:defRPr sz="1300">
                <a:solidFill>
                  <a:srgbClr val="333333"/>
                </a:solidFill>
                <a:latin typeface="Calibri"/>
              </a:defRPr>
            </a:pPr>
            <a:r>
              <a:t>Evidence: Lower-affinity CARs</a:t>
            </a:r>
          </a:p>
          <a:p>
            <a:pPr>
              <a:spcAft>
                <a:spcPts val="600"/>
              </a:spcAft>
              <a:defRPr sz="1300">
                <a:solidFill>
                  <a:srgbClr val="333333"/>
                </a:solidFill>
                <a:latin typeface="Calibri"/>
              </a:defRPr>
            </a:pPr>
            <a:r>
              <a:t>can OUTPERFORM higher-affinity</a:t>
            </a:r>
          </a:p>
          <a:p>
            <a:pPr>
              <a:spcAft>
                <a:spcPts val="600"/>
              </a:spcAft>
              <a:defRPr sz="1300">
                <a:solidFill>
                  <a:srgbClr val="333333"/>
                </a:solidFill>
                <a:latin typeface="Calibri"/>
              </a:defRPr>
            </a:pPr>
            <a:r>
              <a:t>(Ghorashian, Park et al.)</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Park et al., 2017, Sci Rep 7:14366; Ghorashian et al., Nat Rev Clin Oncol 2019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3200" b="1">
                <a:solidFill>
                  <a:srgbClr val="FFFFFF"/>
                </a:solidFill>
                <a:latin typeface="Calibri"/>
              </a:defRPr>
            </a:pPr>
            <a:r>
              <a:t>HYPOTHESIS</a:t>
            </a:r>
          </a:p>
        </p:txBody>
      </p:sp>
      <p:sp>
        <p:nvSpPr>
          <p:cNvPr id="3" name="TextBox 2"/>
          <p:cNvSpPr txBox="1"/>
          <p:nvPr/>
        </p:nvSpPr>
        <p:spPr>
          <a:xfrm>
            <a:off x="914400" y="1645920"/>
            <a:ext cx="10058400" cy="3200400"/>
          </a:xfrm>
          <a:prstGeom prst="rect">
            <a:avLst/>
          </a:prstGeom>
          <a:noFill/>
        </p:spPr>
        <p:txBody>
          <a:bodyPr wrap="square">
            <a:spAutoFit/>
          </a:bodyPr>
          <a:lstStyle/>
          <a:p>
            <a:pPr algn="ctr">
              <a:defRPr sz="2000" b="0">
                <a:solidFill>
                  <a:srgbClr val="FFFFFF"/>
                </a:solidFill>
                <a:latin typeface="Calibri"/>
              </a:defRPr>
            </a:pPr>
            <a:r>
              <a:t>Specific biophysical features of the antigen–scFv interaction — particularly affinity, kinetic rates, and force-dependent bond stability — determine the magnitude of mechanical tension applied to the CAR complex. This mechanical tension modulates CAR geometry, regulates CD3ζ ITAM exposure, and ultimately controls the strength and quality of downstream signaling.</a:t>
            </a:r>
            <a:br/>
            <a:br/>
            <a:r>
              <a:t>Therefore, rational tuning of these interaction parameters will yield CAR constructs with optimized signaling efficiency.</a:t>
            </a:r>
          </a:p>
        </p:txBody>
      </p:sp>
      <p:sp>
        <p:nvSpPr>
          <p:cNvPr id="4" name="TextBox 3"/>
          <p:cNvSpPr txBox="1"/>
          <p:nvPr/>
        </p:nvSpPr>
        <p:spPr>
          <a:xfrm>
            <a:off x="914400" y="5029200"/>
            <a:ext cx="10058400" cy="1371600"/>
          </a:xfrm>
          <a:prstGeom prst="rect">
            <a:avLst/>
          </a:prstGeom>
          <a:noFill/>
        </p:spPr>
        <p:txBody>
          <a:bodyPr wrap="square">
            <a:spAutoFit/>
          </a:bodyPr>
          <a:lstStyle/>
          <a:p>
            <a:pPr algn="ctr">
              <a:defRPr sz="1300" b="0">
                <a:solidFill>
                  <a:srgbClr val="BBDEFB"/>
                </a:solidFill>
                <a:latin typeface="Calibri"/>
              </a:defRPr>
            </a:pPr>
            <a:r>
              <a:t>Supported by: Catch bond studies (Liu et al., 2014) | Mechanosensor studies (Kim et al., 2009) |</a:t>
            </a:r>
            <a:br/>
            <a:r>
              <a:t>Affinity optimization evidence (Park et al., 2017; Ghorashian et al., 2019) |</a:t>
            </a:r>
            <a:br/>
            <a:r>
              <a:t>Kinetic proofreading theory (McKeithan, 1995)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OBJECTIVES</a:t>
            </a:r>
          </a:p>
        </p:txBody>
      </p:sp>
      <p:sp>
        <p:nvSpPr>
          <p:cNvPr id="3" name="TextBox 2"/>
          <p:cNvSpPr txBox="1"/>
          <p:nvPr/>
        </p:nvSpPr>
        <p:spPr>
          <a:xfrm>
            <a:off x="731520" y="1097280"/>
            <a:ext cx="10058400" cy="5029200"/>
          </a:xfrm>
          <a:prstGeom prst="rect">
            <a:avLst/>
          </a:prstGeom>
          <a:noFill/>
        </p:spPr>
        <p:txBody>
          <a:bodyPr wrap="square">
            <a:spAutoFit/>
          </a:bodyPr>
          <a:lstStyle/>
          <a:p>
            <a:pPr>
              <a:spcAft>
                <a:spcPts val="600"/>
              </a:spcAft>
              <a:defRPr sz="1700">
                <a:solidFill>
                  <a:srgbClr val="333333"/>
                </a:solidFill>
                <a:latin typeface="Calibri"/>
              </a:defRPr>
            </a:pPr>
          </a:p>
          <a:p>
            <a:pPr>
              <a:spcAft>
                <a:spcPts val="600"/>
              </a:spcAft>
              <a:defRPr sz="1700">
                <a:solidFill>
                  <a:srgbClr val="333333"/>
                </a:solidFill>
                <a:latin typeface="Calibri"/>
              </a:defRPr>
            </a:pPr>
            <a:r>
              <a:t>Objective 1:</a:t>
            </a:r>
          </a:p>
          <a:p>
            <a:pPr>
              <a:spcAft>
                <a:spcPts val="600"/>
              </a:spcAft>
              <a:defRPr sz="1700">
                <a:solidFill>
                  <a:srgbClr val="333333"/>
                </a:solidFill>
                <a:latin typeface="Calibri"/>
              </a:defRPr>
            </a:pPr>
            <a:r>
              <a:t>    To understand the parameters of Ag-Ab binding which affect the</a:t>
            </a:r>
          </a:p>
          <a:p>
            <a:pPr>
              <a:spcAft>
                <a:spcPts val="600"/>
              </a:spcAft>
              <a:defRPr sz="1700">
                <a:solidFill>
                  <a:srgbClr val="333333"/>
                </a:solidFill>
                <a:latin typeface="Calibri"/>
              </a:defRPr>
            </a:pPr>
            <a:r>
              <a:t>    amplitude of the signal (KD, kon, koff, force-dependent behavior)</a:t>
            </a:r>
          </a:p>
          <a:p>
            <a:pPr>
              <a:spcAft>
                <a:spcPts val="600"/>
              </a:spcAft>
              <a:defRPr sz="1700">
                <a:solidFill>
                  <a:srgbClr val="333333"/>
                </a:solidFill>
                <a:latin typeface="Calibri"/>
              </a:defRPr>
            </a:pPr>
          </a:p>
          <a:p>
            <a:pPr>
              <a:spcAft>
                <a:spcPts val="600"/>
              </a:spcAft>
              <a:defRPr sz="1700">
                <a:solidFill>
                  <a:srgbClr val="333333"/>
                </a:solidFill>
                <a:latin typeface="Calibri"/>
              </a:defRPr>
            </a:pPr>
            <a:r>
              <a:t>Objective 2:</a:t>
            </a:r>
          </a:p>
          <a:p>
            <a:pPr>
              <a:spcAft>
                <a:spcPts val="600"/>
              </a:spcAft>
              <a:defRPr sz="1700">
                <a:solidFill>
                  <a:srgbClr val="333333"/>
                </a:solidFill>
                <a:latin typeface="Calibri"/>
              </a:defRPr>
            </a:pPr>
            <a:r>
              <a:t>    To design affinity-optimized CAR constructs via site-saturation</a:t>
            </a:r>
          </a:p>
          <a:p>
            <a:pPr>
              <a:spcAft>
                <a:spcPts val="600"/>
              </a:spcAft>
              <a:defRPr sz="1700">
                <a:solidFill>
                  <a:srgbClr val="333333"/>
                </a:solidFill>
                <a:latin typeface="Calibri"/>
              </a:defRPr>
            </a:pPr>
            <a:r>
              <a:t>    mutagenesis of key scFv-antigen interacting residues</a:t>
            </a:r>
          </a:p>
          <a:p>
            <a:pPr>
              <a:spcAft>
                <a:spcPts val="600"/>
              </a:spcAft>
              <a:defRPr sz="1700">
                <a:solidFill>
                  <a:srgbClr val="333333"/>
                </a:solidFill>
                <a:latin typeface="Calibri"/>
              </a:defRPr>
            </a:pPr>
          </a:p>
          <a:p>
            <a:pPr>
              <a:spcAft>
                <a:spcPts val="600"/>
              </a:spcAft>
              <a:defRPr sz="1700">
                <a:solidFill>
                  <a:srgbClr val="333333"/>
                </a:solidFill>
                <a:latin typeface="Calibri"/>
              </a:defRPr>
            </a:pPr>
            <a:r>
              <a:t>Objective 3:</a:t>
            </a:r>
          </a:p>
          <a:p>
            <a:pPr>
              <a:spcAft>
                <a:spcPts val="600"/>
              </a:spcAft>
              <a:defRPr sz="1700">
                <a:solidFill>
                  <a:srgbClr val="333333"/>
                </a:solidFill>
                <a:latin typeface="Calibri"/>
              </a:defRPr>
            </a:pPr>
            <a:r>
              <a:t>    To evaluate CAR-T cell activation, exhaustion, and memory</a:t>
            </a:r>
          </a:p>
          <a:p>
            <a:pPr>
              <a:spcAft>
                <a:spcPts val="600"/>
              </a:spcAft>
              <a:defRPr sz="1700">
                <a:solidFill>
                  <a:srgbClr val="333333"/>
                </a:solidFill>
                <a:latin typeface="Calibri"/>
              </a:defRPr>
            </a:pPr>
            <a:r>
              <a:t>    phenotypes as a function of binding kinetics, and identify the</a:t>
            </a:r>
          </a:p>
          <a:p>
            <a:pPr>
              <a:spcAft>
                <a:spcPts val="600"/>
              </a:spcAft>
              <a:defRPr sz="1700">
                <a:solidFill>
                  <a:srgbClr val="333333"/>
                </a:solidFill>
                <a:latin typeface="Calibri"/>
              </a:defRPr>
            </a:pPr>
            <a:r>
              <a:t>    optimal affinity window for anti-CD19 CAR-T therapy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Experimental Design: Overall Workflow</a:t>
            </a:r>
          </a:p>
        </p:txBody>
      </p:sp>
      <p:pic>
        <p:nvPicPr>
          <p:cNvPr id="3" name="Picture 2" descr="experimental_workflow.png"/>
          <p:cNvPicPr>
            <a:picLocks noChangeAspect="1"/>
          </p:cNvPicPr>
          <p:nvPr/>
        </p:nvPicPr>
        <p:blipFill>
          <a:blip r:embed="rId2"/>
          <a:stretch>
            <a:fillRect/>
          </a:stretch>
        </p:blipFill>
        <p:spPr>
          <a:xfrm>
            <a:off x="274320" y="914400"/>
            <a:ext cx="11612880" cy="54864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CAR Construct Design &amp; Key Interacting Residues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600">
                <a:solidFill>
                  <a:srgbClr val="333333"/>
                </a:solidFill>
                <a:latin typeface="Calibri"/>
              </a:defRPr>
            </a:pPr>
            <a:r>
              <a:t>CAR Constructs:</a:t>
            </a:r>
          </a:p>
          <a:p>
            <a:pPr>
              <a:spcAft>
                <a:spcPts val="600"/>
              </a:spcAft>
              <a:defRPr sz="1600">
                <a:solidFill>
                  <a:srgbClr val="333333"/>
                </a:solidFill>
                <a:latin typeface="Calibri"/>
              </a:defRPr>
            </a:pPr>
            <a:r>
              <a:t>  • pLV-CAR-BFP (commercial construct)</a:t>
            </a:r>
          </a:p>
          <a:p>
            <a:pPr>
              <a:spcAft>
                <a:spcPts val="600"/>
              </a:spcAft>
              <a:defRPr sz="1600">
                <a:solidFill>
                  <a:srgbClr val="333333"/>
                </a:solidFill>
                <a:latin typeface="Calibri"/>
              </a:defRPr>
            </a:pPr>
            <a:r>
              <a:t>  • pLV-CAR-eGFP (for mutagenesis)</a:t>
            </a:r>
          </a:p>
          <a:p>
            <a:pPr>
              <a:spcAft>
                <a:spcPts val="600"/>
              </a:spcAft>
              <a:defRPr sz="1600">
                <a:solidFill>
                  <a:srgbClr val="333333"/>
                </a:solidFill>
                <a:latin typeface="Calibri"/>
              </a:defRPr>
            </a:pPr>
            <a:r>
              <a:t>  • Anti-CD19 scFv: FMC63</a:t>
            </a:r>
          </a:p>
          <a:p>
            <a:pPr>
              <a:spcAft>
                <a:spcPts val="600"/>
              </a:spcAft>
              <a:defRPr sz="1600">
                <a:solidFill>
                  <a:srgbClr val="333333"/>
                </a:solidFill>
                <a:latin typeface="Calibri"/>
              </a:defRPr>
            </a:pPr>
          </a:p>
          <a:p>
            <a:pPr>
              <a:spcAft>
                <a:spcPts val="600"/>
              </a:spcAft>
              <a:defRPr sz="1600">
                <a:solidFill>
                  <a:srgbClr val="333333"/>
                </a:solidFill>
                <a:latin typeface="Calibri"/>
              </a:defRPr>
            </a:pPr>
            <a:r>
              <a:t>Antigen: CD19 (PDB: 7URV)</a:t>
            </a:r>
          </a:p>
          <a:p>
            <a:pPr>
              <a:spcAft>
                <a:spcPts val="600"/>
              </a:spcAft>
              <a:defRPr sz="1600">
                <a:solidFill>
                  <a:srgbClr val="333333"/>
                </a:solidFill>
                <a:latin typeface="Calibri"/>
              </a:defRPr>
            </a:pPr>
          </a:p>
          <a:p>
            <a:pPr>
              <a:spcAft>
                <a:spcPts val="600"/>
              </a:spcAft>
              <a:defRPr sz="1600">
                <a:solidFill>
                  <a:srgbClr val="333333"/>
                </a:solidFill>
                <a:latin typeface="Calibri"/>
              </a:defRPr>
            </a:pPr>
            <a:r>
              <a:t>Key Interacting Residues (buried SASA &gt; 35 Å):</a:t>
            </a:r>
          </a:p>
          <a:p>
            <a:pPr>
              <a:spcAft>
                <a:spcPts val="600"/>
              </a:spcAft>
              <a:defRPr sz="1600">
                <a:solidFill>
                  <a:srgbClr val="333333"/>
                </a:solidFill>
                <a:latin typeface="Calibri"/>
              </a:defRPr>
            </a:pPr>
            <a:r>
              <a:t>  • Tyrosine 260 (codon: TAC, positions 3607-3609)</a:t>
            </a:r>
          </a:p>
          <a:p>
            <a:pPr>
              <a:spcAft>
                <a:spcPts val="600"/>
              </a:spcAft>
              <a:defRPr sz="1600">
                <a:solidFill>
                  <a:srgbClr val="333333"/>
                </a:solidFill>
                <a:latin typeface="Calibri"/>
              </a:defRPr>
            </a:pPr>
            <a:r>
              <a:t>  • Tyrosine 261 (codon: TAC, positions 3610-3612)</a:t>
            </a:r>
          </a:p>
          <a:p>
            <a:pPr>
              <a:spcAft>
                <a:spcPts val="600"/>
              </a:spcAft>
              <a:defRPr sz="1600">
                <a:solidFill>
                  <a:srgbClr val="333333"/>
                </a:solidFill>
                <a:latin typeface="Calibri"/>
              </a:defRPr>
            </a:pPr>
            <a:r>
              <a:t>  • Serine 214 (codon: AGT, positions 3469-3471)</a:t>
            </a:r>
          </a:p>
          <a:p>
            <a:pPr>
              <a:spcAft>
                <a:spcPts val="600"/>
              </a:spcAft>
              <a:defRPr sz="1600">
                <a:solidFill>
                  <a:srgbClr val="333333"/>
                </a:solidFill>
                <a:latin typeface="Calibri"/>
              </a:defRPr>
            </a:pPr>
          </a:p>
          <a:p>
            <a:pPr>
              <a:spcAft>
                <a:spcPts val="600"/>
              </a:spcAft>
              <a:defRPr sz="1600">
                <a:solidFill>
                  <a:srgbClr val="333333"/>
                </a:solidFill>
                <a:latin typeface="Calibri"/>
              </a:defRPr>
            </a:pPr>
            <a:r>
              <a:t>Identified via PDB structure analysis and ChimeraX</a:t>
            </a:r>
          </a:p>
          <a:p>
            <a:pPr>
              <a:spcAft>
                <a:spcPts val="600"/>
              </a:spcAft>
              <a:defRPr sz="1600">
                <a:solidFill>
                  <a:srgbClr val="333333"/>
                </a:solidFill>
                <a:latin typeface="Calibri"/>
              </a:defRPr>
            </a:pPr>
            <a:r>
              <a:t>molecular visualization of the FMC63-CD19 complex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Site-Saturation Mutagenesis Strategy</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NNK Primer Design:</a:t>
            </a:r>
          </a:p>
          <a:p>
            <a:pPr>
              <a:spcAft>
                <a:spcPts val="600"/>
              </a:spcAft>
              <a:defRPr sz="1500">
                <a:solidFill>
                  <a:srgbClr val="333333"/>
                </a:solidFill>
                <a:latin typeface="Calibri"/>
              </a:defRPr>
            </a:pPr>
            <a:r>
              <a:t>  • NNK codons cover 32 codons encoding all 20 amino acids</a:t>
            </a:r>
          </a:p>
          <a:p>
            <a:pPr>
              <a:spcAft>
                <a:spcPts val="600"/>
              </a:spcAft>
              <a:defRPr sz="1500">
                <a:solidFill>
                  <a:srgbClr val="333333"/>
                </a:solidFill>
                <a:latin typeface="Calibri"/>
              </a:defRPr>
            </a:pPr>
            <a:r>
              <a:t>  • Minimizes stop codon frequency (only TAG possible)</a:t>
            </a:r>
          </a:p>
          <a:p>
            <a:pPr>
              <a:spcAft>
                <a:spcPts val="600"/>
              </a:spcAft>
              <a:defRPr sz="1500">
                <a:solidFill>
                  <a:srgbClr val="333333"/>
                </a:solidFill>
                <a:latin typeface="Calibri"/>
              </a:defRPr>
            </a:pPr>
            <a:r>
              <a:t>  • For 95% coverage: ≥98,164 colonies must be screened (Pines et al., 2022)</a:t>
            </a:r>
          </a:p>
          <a:p>
            <a:pPr>
              <a:spcAft>
                <a:spcPts val="600"/>
              </a:spcAft>
              <a:defRPr sz="1500">
                <a:solidFill>
                  <a:srgbClr val="333333"/>
                </a:solidFill>
                <a:latin typeface="Calibri"/>
              </a:defRPr>
            </a:pPr>
          </a:p>
          <a:p>
            <a:pPr>
              <a:spcAft>
                <a:spcPts val="600"/>
              </a:spcAft>
              <a:defRPr sz="1500">
                <a:solidFill>
                  <a:srgbClr val="333333"/>
                </a:solidFill>
                <a:latin typeface="Calibri"/>
              </a:defRPr>
            </a:pPr>
            <a:r>
              <a:t>Primers Designed for Each Residue:</a:t>
            </a:r>
          </a:p>
          <a:p>
            <a:pPr>
              <a:spcAft>
                <a:spcPts val="600"/>
              </a:spcAft>
              <a:defRPr sz="1500">
                <a:solidFill>
                  <a:srgbClr val="333333"/>
                </a:solidFill>
                <a:latin typeface="Calibri"/>
              </a:defRPr>
            </a:pPr>
            <a:r>
              <a:t>  • Ser214: Forward 5'-NNKTACGGTGGTAGCTATGCTATGGACTACTGG-3'</a:t>
            </a:r>
          </a:p>
          <a:p>
            <a:pPr>
              <a:spcAft>
                <a:spcPts val="600"/>
              </a:spcAft>
              <a:defRPr sz="1500">
                <a:solidFill>
                  <a:srgbClr val="333333"/>
                </a:solidFill>
                <a:latin typeface="Calibri"/>
              </a:defRPr>
            </a:pPr>
            <a:r>
              <a:t>  • Tyr260: Forward 5'-NNKGAAACCACATACTATAATTCAGCTCTCAAA-3'</a:t>
            </a:r>
          </a:p>
          <a:p>
            <a:pPr>
              <a:spcAft>
                <a:spcPts val="600"/>
              </a:spcAft>
              <a:defRPr sz="1500">
                <a:solidFill>
                  <a:srgbClr val="333333"/>
                </a:solidFill>
                <a:latin typeface="Calibri"/>
              </a:defRPr>
            </a:pPr>
            <a:r>
              <a:t>  • Tyr261: Forward 5'-NNKGGTGGTAGCTATGCTATGGACTACTGGGGT-3'</a:t>
            </a:r>
          </a:p>
          <a:p>
            <a:pPr>
              <a:spcAft>
                <a:spcPts val="600"/>
              </a:spcAft>
              <a:defRPr sz="1500">
                <a:solidFill>
                  <a:srgbClr val="333333"/>
                </a:solidFill>
                <a:latin typeface="Calibri"/>
              </a:defRPr>
            </a:pPr>
          </a:p>
          <a:p>
            <a:pPr>
              <a:spcAft>
                <a:spcPts val="600"/>
              </a:spcAft>
              <a:defRPr sz="1500">
                <a:solidFill>
                  <a:srgbClr val="333333"/>
                </a:solidFill>
                <a:latin typeface="Calibri"/>
              </a:defRPr>
            </a:pPr>
            <a:r>
              <a:t>PCR Conditions:</a:t>
            </a:r>
          </a:p>
          <a:p>
            <a:pPr>
              <a:spcAft>
                <a:spcPts val="600"/>
              </a:spcAft>
              <a:defRPr sz="1500">
                <a:solidFill>
                  <a:srgbClr val="333333"/>
                </a:solidFill>
                <a:latin typeface="Calibri"/>
              </a:defRPr>
            </a:pPr>
            <a:r>
              <a:t>  • Phusion DNA polymerase, 20 cycles</a:t>
            </a:r>
          </a:p>
          <a:p>
            <a:pPr>
              <a:spcAft>
                <a:spcPts val="600"/>
              </a:spcAft>
              <a:defRPr sz="1500">
                <a:solidFill>
                  <a:srgbClr val="333333"/>
                </a:solidFill>
                <a:latin typeface="Calibri"/>
              </a:defRPr>
            </a:pPr>
            <a:r>
              <a:t>  • Sanger sequencing for verification</a:t>
            </a:r>
          </a:p>
          <a:p>
            <a:pPr>
              <a:spcAft>
                <a:spcPts val="600"/>
              </a:spcAft>
              <a:defRPr sz="1500">
                <a:solidFill>
                  <a:srgbClr val="333333"/>
                </a:solidFill>
                <a:latin typeface="Calibri"/>
              </a:defRPr>
            </a:pPr>
          </a:p>
          <a:p>
            <a:pPr>
              <a:spcAft>
                <a:spcPts val="600"/>
              </a:spcAft>
              <a:defRPr sz="1500">
                <a:solidFill>
                  <a:srgbClr val="333333"/>
                </a:solidFill>
                <a:latin typeface="Calibri"/>
              </a:defRPr>
            </a:pPr>
            <a:r>
              <a:t>Output: Library of single-residue CAR mutants at positions 214, 260, 261</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Jain et al., 2013; Pines et al., 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Functional Screening of CAR Mutants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Pipeline for Each Mutant:</a:t>
            </a:r>
          </a:p>
          <a:p>
            <a:pPr>
              <a:spcAft>
                <a:spcPts val="600"/>
              </a:spcAft>
              <a:defRPr sz="1500">
                <a:solidFill>
                  <a:srgbClr val="333333"/>
                </a:solidFill>
                <a:latin typeface="Calibri"/>
              </a:defRPr>
            </a:pPr>
            <a:r>
              <a:t>  1. Plasmid preparation (Qiagen EndoFree Maxi Kit)</a:t>
            </a:r>
          </a:p>
          <a:p>
            <a:pPr>
              <a:spcAft>
                <a:spcPts val="600"/>
              </a:spcAft>
              <a:defRPr sz="1500">
                <a:solidFill>
                  <a:srgbClr val="333333"/>
                </a:solidFill>
                <a:latin typeface="Calibri"/>
              </a:defRPr>
            </a:pPr>
            <a:r>
              <a:t>  2. Transfection optimization (Lipofectamine + P3000)</a:t>
            </a:r>
          </a:p>
          <a:p>
            <a:pPr>
              <a:spcAft>
                <a:spcPts val="600"/>
              </a:spcAft>
              <a:defRPr sz="1500">
                <a:solidFill>
                  <a:srgbClr val="333333"/>
                </a:solidFill>
                <a:latin typeface="Calibri"/>
              </a:defRPr>
            </a:pPr>
            <a:r>
              <a:t>  3. Viral titre determination (Lenti-X qRT-PCR)</a:t>
            </a:r>
          </a:p>
          <a:p>
            <a:pPr>
              <a:spcAft>
                <a:spcPts val="600"/>
              </a:spcAft>
              <a:defRPr sz="1500">
                <a:solidFill>
                  <a:srgbClr val="333333"/>
                </a:solidFill>
                <a:latin typeface="Calibri"/>
              </a:defRPr>
            </a:pPr>
            <a:r>
              <a:t>  4. Transduction of Jurkat cells (polybrene 8 μg/ml, 48-72h)</a:t>
            </a:r>
          </a:p>
          <a:p>
            <a:pPr>
              <a:spcAft>
                <a:spcPts val="600"/>
              </a:spcAft>
              <a:defRPr sz="1500">
                <a:solidFill>
                  <a:srgbClr val="333333"/>
                </a:solidFill>
                <a:latin typeface="Calibri"/>
              </a:defRPr>
            </a:pPr>
            <a:r>
              <a:t>  5. Surface CAR detection (anti-G4S linker antibody, FACS)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Functional Assays:</a:t>
            </a:r>
          </a:p>
          <a:p>
            <a:pPr>
              <a:spcAft>
                <a:spcPts val="600"/>
              </a:spcAft>
              <a:defRPr sz="1500">
                <a:solidFill>
                  <a:srgbClr val="333333"/>
                </a:solidFill>
                <a:latin typeface="Calibri"/>
              </a:defRPr>
            </a:pPr>
            <a:r>
              <a:t>  • Cytotoxicity: CAR-Jurkat + Raji co-culture (E:T = 1:1, 2:1)</a:t>
            </a:r>
          </a:p>
          <a:p>
            <a:pPr>
              <a:spcAft>
                <a:spcPts val="600"/>
              </a:spcAft>
              <a:defRPr sz="1500">
                <a:solidFill>
                  <a:srgbClr val="333333"/>
                </a:solidFill>
                <a:latin typeface="Calibri"/>
              </a:defRPr>
            </a:pPr>
            <a:r>
              <a:t>  • Rechallenge assay: Serial Raji exposure → measure persistence</a:t>
            </a:r>
          </a:p>
          <a:p>
            <a:pPr>
              <a:spcAft>
                <a:spcPts val="600"/>
              </a:spcAft>
              <a:defRPr sz="1500">
                <a:solidFill>
                  <a:srgbClr val="333333"/>
                </a:solidFill>
                <a:latin typeface="Calibri"/>
              </a:defRPr>
            </a:pPr>
            <a:r>
              <a:t>  • Exhaustion markers: PD-1, TIM-3, LAG-3 (FACS panel)</a:t>
            </a:r>
          </a:p>
          <a:p>
            <a:pPr>
              <a:spcAft>
                <a:spcPts val="600"/>
              </a:spcAft>
              <a:defRPr sz="1500">
                <a:solidFill>
                  <a:srgbClr val="333333"/>
                </a:solidFill>
                <a:latin typeface="Calibri"/>
              </a:defRPr>
            </a:pPr>
            <a:r>
              <a:t>  • Memory markers: CD45RA, CCR7, CD62L</a:t>
            </a:r>
          </a:p>
          <a:p>
            <a:pPr>
              <a:spcAft>
                <a:spcPts val="600"/>
              </a:spcAft>
              <a:defRPr sz="1500">
                <a:solidFill>
                  <a:srgbClr val="333333"/>
                </a:solidFill>
                <a:latin typeface="Calibri"/>
              </a:defRPr>
            </a:pPr>
            <a:r>
              <a:t>  • Cytokine profile: IL-2, IFN-γ, TNF-α</a:t>
            </a:r>
          </a:p>
          <a:p>
            <a:pPr>
              <a:spcAft>
                <a:spcPts val="600"/>
              </a:spcAft>
              <a:defRPr sz="1500">
                <a:solidFill>
                  <a:srgbClr val="333333"/>
                </a:solidFill>
                <a:latin typeface="Calibri"/>
              </a:defRPr>
            </a:pPr>
          </a:p>
          <a:p>
            <a:pPr>
              <a:spcAft>
                <a:spcPts val="600"/>
              </a:spcAft>
              <a:defRPr sz="1500">
                <a:solidFill>
                  <a:srgbClr val="333333"/>
                </a:solidFill>
                <a:latin typeface="Calibri"/>
              </a:defRPr>
            </a:pPr>
            <a:r>
              <a:t>Controls: Un-transduced Jurkat + Raji | CAR-Jurkat + K562 (irrelevant)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Target Phenotypes &amp; Selection Criteria</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700">
                <a:solidFill>
                  <a:srgbClr val="333333"/>
                </a:solidFill>
                <a:latin typeface="Calibri"/>
              </a:defRPr>
            </a:pPr>
            <a:r>
              <a:t>Mutants Will Be Selected Based On:</a:t>
            </a:r>
          </a:p>
          <a:p>
            <a:pPr>
              <a:spcAft>
                <a:spcPts val="600"/>
              </a:spcAft>
              <a:defRPr sz="1700">
                <a:solidFill>
                  <a:srgbClr val="333333"/>
                </a:solidFill>
                <a:latin typeface="Calibri"/>
              </a:defRPr>
            </a:pPr>
          </a:p>
          <a:p>
            <a:pPr>
              <a:spcAft>
                <a:spcPts val="600"/>
              </a:spcAft>
              <a:defRPr sz="1700">
                <a:solidFill>
                  <a:srgbClr val="333333"/>
                </a:solidFill>
                <a:latin typeface="Calibri"/>
              </a:defRPr>
            </a:pPr>
            <a:r>
              <a:t>  ✔  Desired cytotoxicity (efficient target killing)</a:t>
            </a:r>
          </a:p>
          <a:p>
            <a:pPr>
              <a:spcAft>
                <a:spcPts val="600"/>
              </a:spcAft>
              <a:defRPr sz="1700">
                <a:solidFill>
                  <a:srgbClr val="333333"/>
                </a:solidFill>
                <a:latin typeface="Calibri"/>
              </a:defRPr>
            </a:pPr>
            <a:r>
              <a:t>  ✔  Maximum proliferative capacity</a:t>
            </a:r>
          </a:p>
          <a:p>
            <a:pPr>
              <a:spcAft>
                <a:spcPts val="600"/>
              </a:spcAft>
              <a:defRPr sz="1700">
                <a:solidFill>
                  <a:srgbClr val="333333"/>
                </a:solidFill>
                <a:latin typeface="Calibri"/>
              </a:defRPr>
            </a:pPr>
            <a:r>
              <a:t>  ✔  Strong memory formation (CD45RO+, CCR7+)</a:t>
            </a:r>
          </a:p>
          <a:p>
            <a:pPr>
              <a:spcAft>
                <a:spcPts val="600"/>
              </a:spcAft>
              <a:defRPr sz="1700">
                <a:solidFill>
                  <a:srgbClr val="333333"/>
                </a:solidFill>
                <a:latin typeface="Calibri"/>
              </a:defRPr>
            </a:pPr>
            <a:r>
              <a:t>  ✔  Minimal exhaustion markers (low PD-1, TIM-3, LAG-3)</a:t>
            </a:r>
          </a:p>
          <a:p>
            <a:pPr>
              <a:spcAft>
                <a:spcPts val="600"/>
              </a:spcAft>
              <a:defRPr sz="1700">
                <a:solidFill>
                  <a:srgbClr val="333333"/>
                </a:solidFill>
                <a:latin typeface="Calibri"/>
              </a:defRPr>
            </a:pPr>
          </a:p>
          <a:p>
            <a:pPr>
              <a:spcAft>
                <a:spcPts val="600"/>
              </a:spcAft>
              <a:defRPr sz="1700">
                <a:solidFill>
                  <a:srgbClr val="333333"/>
                </a:solidFill>
                <a:latin typeface="Calibri"/>
              </a:defRPr>
            </a:pPr>
            <a:r>
              <a:t>Selected mutants (and those with dramatically different phenotypes)</a:t>
            </a:r>
          </a:p>
          <a:p>
            <a:pPr>
              <a:spcAft>
                <a:spcPts val="600"/>
              </a:spcAft>
              <a:defRPr sz="1700">
                <a:solidFill>
                  <a:srgbClr val="333333"/>
                </a:solidFill>
                <a:latin typeface="Calibri"/>
              </a:defRPr>
            </a:pPr>
            <a:r>
              <a:t>will proceed to kinetic characterization (SPR/BLI)</a:t>
            </a:r>
          </a:p>
          <a:p>
            <a:pPr>
              <a:spcAft>
                <a:spcPts val="600"/>
              </a:spcAft>
              <a:defRPr sz="1700">
                <a:solidFill>
                  <a:srgbClr val="333333"/>
                </a:solidFill>
                <a:latin typeface="Calibri"/>
              </a:defRPr>
            </a:pPr>
          </a:p>
          <a:p>
            <a:pPr>
              <a:spcAft>
                <a:spcPts val="600"/>
              </a:spcAft>
              <a:defRPr sz="1700">
                <a:solidFill>
                  <a:srgbClr val="333333"/>
                </a:solidFill>
                <a:latin typeface="Calibri"/>
              </a:defRPr>
            </a:pPr>
            <a:r>
              <a:t>This creates a dataset linking:</a:t>
            </a:r>
          </a:p>
          <a:p>
            <a:pPr>
              <a:spcAft>
                <a:spcPts val="600"/>
              </a:spcAft>
              <a:defRPr sz="1700">
                <a:solidFill>
                  <a:srgbClr val="333333"/>
                </a:solidFill>
                <a:latin typeface="Calibri"/>
              </a:defRPr>
            </a:pPr>
            <a:r>
              <a:t>  Binding Kinetics (KD, kon, koff) ↔ Functional Outcome</a:t>
            </a:r>
          </a:p>
          <a:p>
            <a:pPr>
              <a:spcAft>
                <a:spcPts val="600"/>
              </a:spcAft>
              <a:defRPr sz="1700">
                <a:solidFill>
                  <a:srgbClr val="333333"/>
                </a:solidFill>
                <a:latin typeface="Calibri"/>
              </a:defRPr>
            </a:pPr>
          </a:p>
          <a:p>
            <a:pPr>
              <a:spcAft>
                <a:spcPts val="600"/>
              </a:spcAft>
              <a:defRPr sz="1700">
                <a:solidFill>
                  <a:srgbClr val="333333"/>
                </a:solidFill>
                <a:latin typeface="Calibri"/>
              </a:defRPr>
            </a:pPr>
            <a:r>
              <a:t>Enabling identification of the OPTIMAL AFFINITY WINDOW</a:t>
            </a:r>
          </a:p>
          <a:p>
            <a:pPr>
              <a:spcAft>
                <a:spcPts val="600"/>
              </a:spcAft>
              <a:defRPr sz="1700">
                <a:solidFill>
                  <a:srgbClr val="333333"/>
                </a:solidFill>
                <a:latin typeface="Calibri"/>
              </a:defRPr>
            </a:pPr>
            <a:r>
              <a:t>for anti-CD19 CAR-T cell therapy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Kinetic Characterization: SPR / BLI</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Selected mutant scFvs will be:</a:t>
            </a:r>
          </a:p>
          <a:p>
            <a:pPr>
              <a:spcAft>
                <a:spcPts val="600"/>
              </a:spcAft>
              <a:defRPr sz="1500">
                <a:solidFill>
                  <a:srgbClr val="333333"/>
                </a:solidFill>
                <a:latin typeface="Calibri"/>
              </a:defRPr>
            </a:pPr>
            <a:r>
              <a:t>  1. Cloned into expression vector (pCT-CON2 or pTT5)</a:t>
            </a:r>
          </a:p>
          <a:p>
            <a:pPr>
              <a:spcAft>
                <a:spcPts val="600"/>
              </a:spcAft>
              <a:defRPr sz="1500">
                <a:solidFill>
                  <a:srgbClr val="333333"/>
                </a:solidFill>
                <a:latin typeface="Calibri"/>
              </a:defRPr>
            </a:pPr>
            <a:r>
              <a:t>  2. Expressed in yeast (S. cerevisiae) or mammalian cells</a:t>
            </a:r>
          </a:p>
          <a:p>
            <a:pPr>
              <a:spcAft>
                <a:spcPts val="600"/>
              </a:spcAft>
              <a:defRPr sz="1500">
                <a:solidFill>
                  <a:srgbClr val="333333"/>
                </a:solidFill>
                <a:latin typeface="Calibri"/>
              </a:defRPr>
            </a:pPr>
            <a:r>
              <a:t>  3. Purified and characterized</a:t>
            </a:r>
          </a:p>
          <a:p>
            <a:pPr>
              <a:spcAft>
                <a:spcPts val="600"/>
              </a:spcAft>
              <a:defRPr sz="1500">
                <a:solidFill>
                  <a:srgbClr val="333333"/>
                </a:solidFill>
                <a:latin typeface="Calibri"/>
              </a:defRPr>
            </a:pPr>
          </a:p>
          <a:p>
            <a:pPr>
              <a:spcAft>
                <a:spcPts val="600"/>
              </a:spcAft>
              <a:defRPr sz="1500">
                <a:solidFill>
                  <a:srgbClr val="333333"/>
                </a:solidFill>
                <a:latin typeface="Calibri"/>
              </a:defRPr>
            </a:pPr>
            <a:r>
              <a:t>Surface Plasmon Resonance (SPR — Biacore):</a:t>
            </a:r>
          </a:p>
          <a:p>
            <a:pPr>
              <a:spcAft>
                <a:spcPts val="600"/>
              </a:spcAft>
              <a:defRPr sz="1500">
                <a:solidFill>
                  <a:srgbClr val="333333"/>
                </a:solidFill>
                <a:latin typeface="Calibri"/>
              </a:defRPr>
            </a:pPr>
            <a:r>
              <a:t>  • Gold standard for label-free kinetics</a:t>
            </a:r>
          </a:p>
          <a:p>
            <a:pPr>
              <a:spcAft>
                <a:spcPts val="600"/>
              </a:spcAft>
              <a:defRPr sz="1500">
                <a:solidFill>
                  <a:srgbClr val="333333"/>
                </a:solidFill>
                <a:latin typeface="Calibri"/>
              </a:defRPr>
            </a:pPr>
            <a:r>
              <a:t>  • Provides: KD, kon, koff, thermodynamic parameters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Bio-Layer Interferometry (BLI — Octet):</a:t>
            </a:r>
          </a:p>
          <a:p>
            <a:pPr>
              <a:spcAft>
                <a:spcPts val="600"/>
              </a:spcAft>
              <a:defRPr sz="1500">
                <a:solidFill>
                  <a:srgbClr val="333333"/>
                </a:solidFill>
                <a:latin typeface="Calibri"/>
              </a:defRPr>
            </a:pPr>
            <a:r>
              <a:t>  • Orthogonal validation; higher throughput</a:t>
            </a:r>
          </a:p>
          <a:p>
            <a:pPr>
              <a:spcAft>
                <a:spcPts val="600"/>
              </a:spcAft>
              <a:defRPr sz="1500">
                <a:solidFill>
                  <a:srgbClr val="333333"/>
                </a:solidFill>
                <a:latin typeface="Calibri"/>
              </a:defRPr>
            </a:pPr>
            <a:r>
              <a:t>  • Can use unpurified samples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Goal: Correlate specific kinetic parameters with the</a:t>
            </a:r>
          </a:p>
          <a:p>
            <a:pPr>
              <a:spcAft>
                <a:spcPts val="600"/>
              </a:spcAft>
              <a:defRPr sz="1500">
                <a:solidFill>
                  <a:srgbClr val="333333"/>
                </a:solidFill>
                <a:latin typeface="Calibri"/>
              </a:defRPr>
            </a:pPr>
            <a:r>
              <a:t>functional phenotypes observed in the screening assays</a:t>
            </a:r>
          </a:p>
          <a:p>
            <a:pPr>
              <a:spcAft>
                <a:spcPts val="600"/>
              </a:spcAft>
              <a:defRPr sz="1500">
                <a:solidFill>
                  <a:srgbClr val="333333"/>
                </a:solidFill>
                <a:latin typeface="Calibri"/>
              </a:defRPr>
            </a:pPr>
            <a:r>
              <a:t>to identify generalizable rules for CAR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Expected Outcomes &amp; Significance</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Expected Outcomes:</a:t>
            </a:r>
          </a:p>
          <a:p>
            <a:pPr>
              <a:spcAft>
                <a:spcPts val="600"/>
              </a:spcAft>
              <a:defRPr sz="1500">
                <a:solidFill>
                  <a:srgbClr val="333333"/>
                </a:solidFill>
                <a:latin typeface="Calibri"/>
              </a:defRPr>
            </a:pPr>
            <a:r>
              <a:t>  1. A library of anti-CD19 CAR variants with systematically altered binding kinetics</a:t>
            </a:r>
          </a:p>
          <a:p>
            <a:pPr>
              <a:spcAft>
                <a:spcPts val="600"/>
              </a:spcAft>
              <a:defRPr sz="1500">
                <a:solidFill>
                  <a:srgbClr val="333333"/>
                </a:solidFill>
                <a:latin typeface="Calibri"/>
              </a:defRPr>
            </a:pPr>
            <a:r>
              <a:t>  2. Comprehensive functional characterization of each variant (activation, exhaustion, memory)</a:t>
            </a:r>
          </a:p>
          <a:p>
            <a:pPr>
              <a:spcAft>
                <a:spcPts val="600"/>
              </a:spcAft>
              <a:defRPr sz="1500">
                <a:solidFill>
                  <a:srgbClr val="333333"/>
                </a:solidFill>
                <a:latin typeface="Calibri"/>
              </a:defRPr>
            </a:pPr>
            <a:r>
              <a:t>  3. Quantitative kinetic data (KD, kon, koff) for selected variants via SPR/BLI</a:t>
            </a:r>
          </a:p>
          <a:p>
            <a:pPr>
              <a:spcAft>
                <a:spcPts val="600"/>
              </a:spcAft>
              <a:defRPr sz="1500">
                <a:solidFill>
                  <a:srgbClr val="333333"/>
                </a:solidFill>
                <a:latin typeface="Calibri"/>
              </a:defRPr>
            </a:pPr>
            <a:r>
              <a:t>  4. Identification of the kinetic parameter(s) that best predict CAR-T functional outcome</a:t>
            </a:r>
          </a:p>
          <a:p>
            <a:pPr>
              <a:spcAft>
                <a:spcPts val="600"/>
              </a:spcAft>
              <a:defRPr sz="1500">
                <a:solidFill>
                  <a:srgbClr val="333333"/>
                </a:solidFill>
                <a:latin typeface="Calibri"/>
              </a:defRPr>
            </a:pPr>
            <a:r>
              <a:t>  5. Definition of the optimal affinity window for anti-CD19 CAR-T therapy</a:t>
            </a:r>
          </a:p>
          <a:p>
            <a:pPr>
              <a:spcAft>
                <a:spcPts val="600"/>
              </a:spcAft>
              <a:defRPr sz="1500">
                <a:solidFill>
                  <a:srgbClr val="333333"/>
                </a:solidFill>
                <a:latin typeface="Calibri"/>
              </a:defRPr>
            </a:pPr>
          </a:p>
          <a:p>
            <a:pPr>
              <a:spcAft>
                <a:spcPts val="600"/>
              </a:spcAft>
              <a:defRPr sz="1500">
                <a:solidFill>
                  <a:srgbClr val="333333"/>
                </a:solidFill>
                <a:latin typeface="Calibri"/>
              </a:defRPr>
            </a:pPr>
            <a:r>
              <a:t>Significance:</a:t>
            </a:r>
          </a:p>
          <a:p>
            <a:pPr>
              <a:spcAft>
                <a:spcPts val="600"/>
              </a:spcAft>
              <a:defRPr sz="1500">
                <a:solidFill>
                  <a:srgbClr val="333333"/>
                </a:solidFill>
                <a:latin typeface="Calibri"/>
              </a:defRPr>
            </a:pPr>
            <a:r>
              <a:t>  • Bridges fundamental TCR-pMHC biology with translational CAR-T design</a:t>
            </a:r>
          </a:p>
          <a:p>
            <a:pPr>
              <a:spcAft>
                <a:spcPts val="600"/>
              </a:spcAft>
              <a:defRPr sz="1500">
                <a:solidFill>
                  <a:srgbClr val="333333"/>
                </a:solidFill>
                <a:latin typeface="Calibri"/>
              </a:defRPr>
            </a:pPr>
            <a:r>
              <a:t>  • Provides a rational framework for affinity-optimized CAR engineering</a:t>
            </a:r>
          </a:p>
          <a:p>
            <a:pPr>
              <a:spcAft>
                <a:spcPts val="600"/>
              </a:spcAft>
              <a:defRPr sz="1500">
                <a:solidFill>
                  <a:srgbClr val="333333"/>
                </a:solidFill>
                <a:latin typeface="Calibri"/>
              </a:defRPr>
            </a:pPr>
            <a:r>
              <a:t>  • May explain clinical variability in CAR-T therapeutic responses</a:t>
            </a:r>
          </a:p>
          <a:p>
            <a:pPr>
              <a:spcAft>
                <a:spcPts val="600"/>
              </a:spcAft>
              <a:defRPr sz="1500">
                <a:solidFill>
                  <a:srgbClr val="333333"/>
                </a:solidFill>
                <a:latin typeface="Calibri"/>
              </a:defRPr>
            </a:pPr>
            <a:r>
              <a:t>  • Generalizable approach applicable to CARs targeting other antigens</a:t>
            </a:r>
          </a:p>
          <a:p>
            <a:pPr>
              <a:spcAft>
                <a:spcPts val="600"/>
              </a:spcAft>
              <a:defRPr sz="1500">
                <a:solidFill>
                  <a:srgbClr val="333333"/>
                </a:solidFill>
                <a:latin typeface="Calibri"/>
              </a:defRPr>
            </a:pPr>
            <a:r>
              <a:t>  • Potential to improve CAR-T persistence, reduce exhaustion &amp; toxicity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058400" cy="13716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914400" y="3657600"/>
            <a:ext cx="10058400" cy="1828800"/>
          </a:xfrm>
          <a:prstGeom prst="rect">
            <a:avLst/>
          </a:prstGeom>
          <a:noFill/>
        </p:spPr>
        <p:txBody>
          <a:bodyPr wrap="square">
            <a:spAutoFit/>
          </a:bodyPr>
          <a:lstStyle/>
          <a:p>
            <a:pPr algn="ctr">
              <a:defRPr sz="1800" b="0">
                <a:solidFill>
                  <a:srgbClr val="BBDEFB"/>
                </a:solidFill>
                <a:latin typeface="Calibri"/>
              </a:defRPr>
            </a:pPr>
            <a:r>
              <a:t>PI: Dr. Kausik Chakraborty | Co-PI: Dr. Ankesh Kumar Jaiswal</a:t>
            </a:r>
            <a:br/>
            <a:r>
              <a:t>DAC Members: Dr. Arpan Parichha | Dr. Chetana Sachidanandan | Dr. Sheetal Gandotra</a:t>
            </a:r>
            <a:br/>
            <a:br/>
            <a:r>
              <a:t>CSIR-IGIB | AcSIR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