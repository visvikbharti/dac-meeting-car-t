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Experimental Design — Reviewer Considerations</a:t>
            </a:r>
          </a:p>
          <a:p>
            <a:r>
              <a:rPr sz="2000" i="1">
                <a:solidFill>
                  <a:srgbClr val="FFFFFF"/>
                </a:solidFill>
                <a:latin typeface="Calibri"/>
              </a:rPr>
              <a:t>Confounder audit and refinements for the in vivo + in vitro + biophysics arms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Manpreet Kour | PhD Scholar | CSIR-IGIB | AcSIR Reg. 10BB25J02028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PI: Dr. Kausik Chakraborty (Chief Scientist, CSIR-IGIB)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Co-PI: Dr. Ankesh Kumar Jaiswal (Project Scientist)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System: Anti-CD19 CAR (FMC63 scFv)  |  Target: CD19 (PDB 7URV)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NNK saturation library: S214, Trp212 (primary) | Y260, Y261 (secondary)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Purpose of these slides: integration-ready content for DAC presentation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7AE60"/>
                </a:solidFill>
                <a:latin typeface="Calibri"/>
              </a:rPr>
              <a:t>All citations directly verified against PubMed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2026-05-01  |  Document 18 + reviewer slides  |  visvikbharti/DAC-Meeting-CAR-T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600" b="1">
                <a:solidFill>
                  <a:srgbClr val="1A237E"/>
                </a:solidFill>
                <a:latin typeface="Calibri"/>
              </a:rPr>
              <a:t>Five issues to address before DAC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Top-priority refinements identified by independent expert review of the proposed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1. Citation correction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PDB 7URV / Sci Immunol 2023 paper has first author HE (not Singh). Repo + slide deck use "Singh et al." in 16 files — must be corrected.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13716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67E22"/>
                </a:solidFill>
                <a:latin typeface="Calibri"/>
              </a:rPr>
              <a:t>2. Sampling timing (clarified)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Day 1, 2, 4 = activation / exhaustion kinetics (correct). Memory phenotype = terminal sacrifice (end of 21-d rest, post-rechallenge). Do NOT sort "memory subsets" at day 1-4 post-rechallenge — those are recall effectors.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13716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67E22"/>
                </a:solidFill>
                <a:latin typeface="Calibri"/>
              </a:rPr>
              <a:t>3. "Humanized mouse" terminology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For adoptive CAR-T transfer to NALM-6, use NSG (or NSG-MHC-DKO if rest &gt;4 wk; Brehm 2019, PMID 30383447). PBMC- or HSC-humanized mice will develop xeno-GvHD that masks the readout.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4340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4. Pre-injection library NGS is mandatory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Without sequencing the input plasmid library + post-expansion infusion product, no enrichment ratio is interpretable. Currently not in the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5. CD19 production: HEK293S vs Expi293F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"HEK293S" in the field = GnTI⁻ line (high-mannose only, used for crystallography). For SPR/BLI kinetics use Expi293F + SF-CD19 stabilized monomer (Laurent 2021, PMID 33843201).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18_Experimental_Design_Expert_Review.md §1, §8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Revised experimental workflow (recommended)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Each timepoint matched to its biologically appropriate readout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Readout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answered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Library QC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Pre-injection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Plasmid + infusion product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Amplicon / barcode NGS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Variant representation in input (REQUIRED reference)</a:t>
                      </a:r>
                    </a:p>
                  </a:txBody>
                  <a:tcPr marL="45720" marR="45720" marT="27432" marB="27432"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kinetics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1, 2, 4 post-CAR-T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Peripheral blood (serial)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FACS panel (activation + exhaustion); sort +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/ exhaustion KINETICS per variant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Tissue infiltration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4, 14 (terminal cohort)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bone marrow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Same panel + counts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Tissue distribution of phenotype per variant</a:t>
                      </a:r>
                    </a:p>
                  </a:txBody>
                  <a:tcPr marL="45720" marR="45720" marT="27432" marB="27432"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Memory pool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End of day-21 rest (terminal cohort)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LN + BM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Memory subset sort (Tn / Tscm / Tcm / Tem) +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Which variants ENRICH in resting memory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response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1, 2, 4 post-rechallenge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Blood (serial)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+ Ki67 + cytokines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response kinetics per variant</a:t>
                      </a:r>
                    </a:p>
                  </a:txBody>
                  <a:tcPr marL="45720" marR="45720" marT="27432" marB="27432"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functional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4-7 post-rechallenge (terminal)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BM + tumor sites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Total CAR+ + CAR+Ki67+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Which variants drive strongest recall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669280"/>
            <a:ext cx="11277295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KEY CHANGE: separate the kinetic question (day 1-4) from the memory-pool question (end-of-rest sacrifice). Different questions, different timepoints.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§3a.6, §3.2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Mouse model choice — clarify "humanized mouse"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For adoptive CAR-T transfer to NALM-6, full immune reconstitution is NOT needed and is usually counterproductive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xeno-GvHD risk during 21-d rest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 for this design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Citation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Standard adoptive CAR-T xenograft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Minimal if only CAR-T transferred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CHOICE for ≤21-d rest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Shultz 2012 PMID 23059428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NSG-MHC-DKO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Long-window CAR-T xenograft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Substantially delayed (&gt;10 wk possible)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BEST CHOICE if rest &gt;4 wk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Brehm 2019 PMID 30383447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NSG-SGM3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HSC-myeloid studies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HLH-like in HSC-engrafted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Not needed here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Wunderlich 2018 PMID 30586420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hu-PBL-NSG (PBMC)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Human T cell biology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Onset ~28 d → masks memory readout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INADEQUATE — avoid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King 2009 PMID 19426570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HLA-restricted T cell biology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BLT-GvHD by 16-24 wk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Not needed here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Lan 2006 PMID 16778179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846320"/>
            <a:ext cx="11277295" cy="54864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NALM-6: pre-B ALL, CD19+, HLA-A*02:01. Standard IV dose 0.5-1.0 × 10⁶ in NSG (Brentjens 2007 PMID 17855649; Milone 2009 PMID 19384291). Median survival untreated ≈21-25 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577840"/>
            <a:ext cx="11277295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Recommendation: NSG primary; switch to NSG-MHC-DKO if any rest period exceeds 4 weeks. Drop the term "humanized mouse" unless PBMC/HSC engraftment is intentional.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§2.1, §2.2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Activation / exhaustion kinetics — day 1, 2, 4 sampling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Day 1, 2, 4 IS the right window for these markers (not for memory phenotyping)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Activation markers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Effector function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Early exhaustion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 (~24 h)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 peak; CD25 ramping; ICOS / OX40 induction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IFN-γ, TNF-α, IL-2 initiating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 mRNA induction; protein begins to rise</a:t>
                      </a:r>
                    </a:p>
                  </a:txBody>
                  <a:tcPr marL="45720" marR="4572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2 (~48 h)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CD25 plateau; CD69 declining; ICOS / OX40 sustained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Granzyme B / perforin granule loading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 surface protein elevated; TIM-3 / LAG-3 emerging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Effector differentiation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 / TNF-α / cytotoxicity peak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PD-1, TIM-3, LAG-3 sustained; TOX accumulating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40480"/>
            <a:ext cx="11277295" cy="82296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Sort-then-NGS strategy: at each timepoint, sort CAR+ cells into bins (CD69+ vs CD69-, PD-1ʰⁱ vs PD-1ˡᵒ, TOX+ vs TOX-) → variant NGS in each bin → identifies which scFv mutants enrich in each phenotype. Avoids the bulk-FACS averaging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Sampling strategy (recommended hybrid):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112772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Peripheral blood serial sampling on day 1, 2, 4, 7 (kinetic resolution; non-terminal)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Terminal cohorts on day 4 + day 14 — spleen + bone marrow (intracellular markers + tissue infiltration)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Pair every kinetic timepoint with a parallel terminal cohort if intracellular markers (TOX, NR4A1, granzyme B, IFN-γ) are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§3a.1-3a.4. Long et al. 2015 Nat Med PMID 25939063 (4-1BB exhaustion biology, verified)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FACS panel for activation / exhaustion (CAR+ gated)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Split across 3-4 panels because of fluorochrome limits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Live / lineage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LIVE/DEAD, CD45, CD3, CD8, CD4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First gate of any CAR-T panel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CAR detection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CD19-Fc tetramer (preferred), or anti-idiotype, or surrogate marker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what is in Manpreet's vector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(surface)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CD69, CD25, ICOS, OX40 (CD134)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 earliest (peak ~24 h); ICOS / OX40 sustained 48-72 h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Exhaustion (surface)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PD-1, TIM-3, LAG-3, TIGIT, CD39, 2B4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Co-expressed in terminal exhaustion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Exhaustion (intracellular)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TOX, NR4A1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Master regulators; require fix / perm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Effector (intracellular)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IFN-γ, TNF-α, IL-2, granzyme B, perforin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Brief stim + protein transport block before fix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Differentiation TFs (intracellular)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T-bet, EOMES, BLIMP-1, TCF1 / TCF7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TCF1 marks stem-like / progenitor exhausted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Proliferation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Ki67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Intracellular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Apoptosis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Annexin V (or active caspase-3)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Surface stain pre-fix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6035040"/>
            <a:ext cx="11277295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Confounder: CD19 binding internalizes the CAR — staining with CD19-Fc tetramer at saturating concentration mitigates; consider T2A-fluorescent reporter co-expression for orthogonal CAR detection.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§3a.3. Refs: Wherry &amp; Kurachi 2015 (exhaustion review).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Memory phenotyping + variant NGS (terminal sacrifice)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CD95 is the discriminating marker for Tscm vs naïve — must be in the panel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Subset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Phenotype (CAR+ gated)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Defining ref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Naïve (Tn)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CD45RA+ CD45RO- CCR7+ CD62L+ CD27+ CD28+ CD95 low/neg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Tscm (stem cell memory)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CD45RA+ CCR7+ CD62L+ CD27+ CD28+ CD95+ IL-7Rα+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Gattinoni 2011 PMID 21926977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Tcm (central memory)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CD45RA- CD45RO+ CCR7+ CD62L+ CD27+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 (effector memory)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CD45RA- CD45RO+ CCR7- CD62L-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Trm (tissue-resident, BM)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CD69+ CD103+/-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Mackay 2013 PMID 24162776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0233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Sort + NGS workflow: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772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Sacrifice cohort at end of day-21 rest (BEFORE rechallenge) — primary memory question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Harvest spleen + LN + bone marrow → enzymatic dissociation, viability stain, FACS sort each subset to ≥95% purity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Per-mouse processing for Tcm/Tem (n ≥ 5); pool 2-3 mice for Tscm if cell numbers tight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Genomic DNA → variant amplicon (or barcode) NGS with UMIs → MAGeCK MLE for enrichment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Cell numbers per mouse: ~1-2 × 10⁶ Tscm achievable from spleen alone (Sabatino 2016 PMID 27226436)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§3.1, §3.2, §3.5. Lugli 2013 Nat Protoc — Tscm sorting SOP.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Pooled-screen NGS readout — barcoding vs amplicon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Critical first step: map S214, Trp212, Y260, Y261 onto FMC63 VL-218-VH sequence to confirm if they fit in a single 300-bp read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Amplicon-seq of mutated region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DNA barcoding (5'/3' UTR)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Cloning effort upfront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 (variant ↔ barcode lookup)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Sequencing complexity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Single MiSeq if positions in 300 bp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Trivial mapping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Errors near NNK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Confounding (need UMIs)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Eliminated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Chimeric reads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Negligible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Long-read needed if positions &gt; 250 bp apart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Yes (PacBio / Nanopore)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27432" marB="27432"/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Recommended for ~376 variants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OK if single amplicon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PREFERRED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97680"/>
            <a:ext cx="11277295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NON-NEGOTIABLE: pre-injection library NGS + post-expansion infusion-product NGS as reference. Without them, no enrichment ratio is interpretable.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Depth and statistics: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≥1000 reads per variant per condition (minimum for confident log2-fold-change)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UMIs (6-10 nt) on gene-specific PCR primer — Kivioja 2011 PMID 22101854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MAGeCK MLE for enrichment statistics — Li 2014 PMID 25476604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In vivo CRISPR-screen template: Belk 2022 PMID 35750052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 ≥ 5 mice per arm; pre-registered mixed-effects model (variant ~ time + tissue + (1|mouse))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§3.3, §3.4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CD19 production — Expi293F + SF-CD19 (Laurent 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Wrong cell line will cost months of aggregation troubleshooting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Cell line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Glycoform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Monomer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Expi293F + SF-CD19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 (matches in vivo)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 (10-50 mg/L)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 (engineered)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CHOICE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HEK293-6E + SF-CD19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Moderate-high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Equivalent fallback (NRC license)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HEK293F (FreeStyle)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 (with SF-CD19)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OK if Expi293F unavailable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HEK293S GnTI⁻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Man₅ ONLY — wrong glycoform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(crystallography only)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CHO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Slightly different (LacdiNAc)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for kinetics</a:t>
                      </a:r>
                    </a:p>
                  </a:txBody>
                  <a:tcPr marL="45720" marR="45720" marT="27432" marB="27432"/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Sf9 / E. coli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Wrong (or no) glycans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for CD19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97680"/>
            <a:ext cx="11277295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SF-CD19: SuperFolder stabilized monomer from Laurent E et al. 2021 ACS Synth Biol 10:1184-1198, PMID 33843201. Yeast-display directed evolution → soluble monomeric CD19 (&gt;99% by SEC-MALS). Solves WT-CD19-ECD aggregation. Senior author Traxlmayr — same group as Seigner 2023.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Construct design: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CD19 ECD: Met1 to ~Lys291 (UniProt P15391) — remove TM + cytoplasmic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SF-CD19 stabilizing mutations from Laurent 2021 supplementary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Cleavable C-terminal His₁₀ + HRV-3C (or Avi tag for biotinylation)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NEVER run kinetics with Fc still attached — bivalent Fc inflates KD 100-1000× via avidity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SEC-MALS QC every batch — target &gt;99% monomer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§5.2. Reeves 2002 PNAS PMID 12370423 (HEK293S GnTI⁻ origin, verified).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SPR protocol — built from Seigner 2023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Published FMC63-CD19 KD = 5.1 nM (range 2-6 nM); kon = 1.0 × 10⁵ M⁻¹s⁻¹; koff = 5.3 × 10⁻⁴ s⁻¹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Biotin CAPture S Series (Cytiva)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Re-loadable; reduces immobilization variability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Ligand on chip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Biotinylated FMC63-Avi-His scFv (~1000 RU)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Site-specific biotinylation; oriented capture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Analyte in solution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SF-CD19 monomer (5 conc.: 0.5, 4, 20, 100, 500 nM)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Single-cycle kinetics (SCK) preferred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Buffer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PBS + 0.1% BSA + 0.05% Tween-20, pH 7.4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Seigner 2023; physiological NaCl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Temperature / flow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25 °C / 30 µL/min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Association / dissociation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600 s / 1200 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koff ≈ 5×10⁻⁴ s⁻¹ → t½ ≈ 22 min, need ≥3 t½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Regeneration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 M GuHCl + 1 M NaOH, 120 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 scFv stability across cycles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Fitting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1:1 Langmuir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with global fit + residuals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Replicates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 ≥ 3 independent runs per mutant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Report mean ± SD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532120"/>
            <a:ext cx="11277295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FMC63 has a 20% diabody dimer equilibrium that SEC alone cannot remove (Seigner 2023). For top 3 mutants run Fab format as orthogonal validation — eliminates the diabody artifact entirely.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§5.3. Seigner et al. 2023 Sci Rep 13:23024 PMID 38155191 (verified).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Tiered biophysics strategy — pick the right number of mutants per 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6017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029"/>
                <a:gridCol w="1910029"/>
                <a:gridCol w="1910029"/>
                <a:gridCol w="1910029"/>
                <a:gridCol w="1910029"/>
                <a:gridCol w="191003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mutants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Functional screens (in vivo + in vitro)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50-100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Identify functionally interesting variants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CSIR-IGIB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BLI / Octet (FortéBio)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20-30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24 / run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Rapid kinetic triage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in-house instrument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SPR (Biacore T200 / 8K)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6-10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6-30 / day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3D kinetic dataset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CSIR-IGIB / NCBS / IISc / IIT-B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2D adhesion frequency (Chesla-Zhu)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2-3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5-10 / month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Membrane-context kinetics; novelty (no published CAR data)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External collab — Zhu (Georgia Tech), Liu (Utah), Qi (Tsinghua)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BFP catch bond (Phase 2)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1-2 / quarter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Mechanobiology; secondary novelty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Same external collaborators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572000"/>
            <a:ext cx="11277295" cy="77724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Key insight: NO published 2D adhesion frequency or BFP catch-bond data exists for ANY CAR-antigen system. This is genuinely novel for FMC63-CD19 — strengthens novelty argument alongside the S214 + Trp212 residue novelty.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40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Origin references (verified):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2D adhesion frequency: Chesla, Selvaraj, Zhu 1998 Biophys J 75:1553-72 PMID 9726957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BFP catch bonds (TCR): Liu, Chen, Evavold, Zhu 2014 Cell 157:357-68 PMID 24725404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TCR-pMHC 2D kinetics establishing T cell relevance: Huang et al. 2010 Nature 464:932 PMID 20357766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§5.5, §5.7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Citation correction — He et al. 2023 (NOT Singh)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PDB 7URV / Sci Immunol cryo-EM paper has first author Changhao 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457200"/>
            <a:ext cx="5486400" cy="22860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WRONG (in earlier project notes)</a:t>
            </a:r>
            <a:br/>
            <a:br/>
            <a:r>
              <a:rPr sz="1300" b="1">
                <a:solidFill>
                  <a:srgbClr val="FFFFFF"/>
                </a:solidFill>
                <a:latin typeface="Calibri"/>
              </a:rPr>
              <a:t>Singh et al. 2023, Sci Immunol</a:t>
            </a:r>
            <a:br/>
            <a:br/>
            <a:r>
              <a:rPr sz="1300" b="1">
                <a:solidFill>
                  <a:srgbClr val="FFFFFF"/>
                </a:solidFill>
                <a:latin typeface="Calibri"/>
              </a:rPr>
              <a:t>Was in 16 markdown files. Corrected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2026-05-01 via .fix_citations.py (84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replacements). DAC_Presentation_v2.pptx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still needs manual correction.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6217920"/>
            <a:ext cx="5486400" cy="3657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CORRECT (verified PubMed)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He C, Mansilla-Soto J, Khanra N, Hamieh M, Bustos V, Paquette AJ, Garcia Angus A, Shore DM, Rice WJ, Khelashvili G, Sadelain M, Meyerson JR.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CD19 CAR antigen engagement mechanisms and affinity tuning.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Sci Immunol 8(81):eadf1426, 2023.</a:t>
            </a:r>
            <a:br/>
            <a:r>
              <a:rPr sz="1200" b="1">
                <a:solidFill>
                  <a:srgbClr val="FFFFFF"/>
                </a:solidFill>
                <a:latin typeface="Calibri"/>
              </a:rPr>
              <a:t>PMID 36867678 | PMCID PMC10228544</a:t>
            </a:r>
            <a:br/>
            <a:r>
              <a:rPr sz="1200" b="1">
                <a:solidFill>
                  <a:srgbClr val="FFFFFF"/>
                </a:solidFill>
                <a:latin typeface="Calibri"/>
              </a:rPr>
              <a:t>DOI 10.1126/sciimmunol.adf1426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Other PMIDs verified during this review: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486400" cy="274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Nicholson 1997 (FMC63 origin): PMID 9566763 (Mol Immunol 34:1157-65)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Drent 2019: Clin Cancer Res 25:4014-25, PMID 30979735 (already correct in repo)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Reeves 2002 (HEK293S GnTI⁻): PMID 12370423 (PNAS 99:13419)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Chesla, Selvaraj, Zhu 1998 (2D assay): PMID 9726957 (Biophys J 75:1553-72)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Seigner 2023 (FMC63 KD = 5.1 nM): PMID 38155191 (Sci Rep 13:23024) — confirmed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Laurent 2021 (SF-CD19): PMID 33843201 (ACS Synth Biol 10:1184-98) — first author Laurent, not Zajc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Action: 16 markdown files corrected 2026-05-01. Manual correction of DAC_Presentation_v2.pptx still needed before DAC.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Aims &amp; Objectives — currently stated, with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Both questions are partially answered by published literature; objectives don't capture what the experiments measure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365760"/>
            <a:ext cx="5669280" cy="182880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Q1 (current):</a:t>
            </a:r>
            <a:br/>
            <a:r>
              <a:rPr sz="1200" b="0">
                <a:solidFill>
                  <a:srgbClr val="333333"/>
                </a:solidFill>
                <a:latin typeface="Calibri"/>
              </a:rPr>
              <a:t>Can tuning the affinity affect the amplitude of the CAR-T signal?</a:t>
            </a:r>
            <a:br/>
            <a:br/>
            <a:r>
              <a:rPr sz="1200" b="0">
                <a:solidFill>
                  <a:srgbClr val="333333"/>
                </a:solidFill>
                <a:latin typeface="Calibri"/>
              </a:rPr>
              <a:t>Objective 1 (current):</a:t>
            </a:r>
            <a:br/>
            <a:r>
              <a:rPr sz="1200" b="0">
                <a:solidFill>
                  <a:srgbClr val="333333"/>
                </a:solidFill>
                <a:latin typeface="Calibri"/>
              </a:rPr>
              <a:t>To determine CAR-T cell efficacy in vivo and in vitro using scFv mutant CAR library.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6126480"/>
            <a:ext cx="5669280" cy="182880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Q2 (current):</a:t>
            </a:r>
            <a:br/>
            <a:r>
              <a:rPr sz="1200" b="0">
                <a:solidFill>
                  <a:srgbClr val="333333"/>
                </a:solidFill>
                <a:latin typeface="Calibri"/>
              </a:rPr>
              <a:t>Is there any affinity window for CAR-T cells having better therapeutic outcomes?</a:t>
            </a:r>
            <a:br/>
            <a:br/>
            <a:r>
              <a:rPr sz="1200" b="0">
                <a:solidFill>
                  <a:srgbClr val="333333"/>
                </a:solidFill>
                <a:latin typeface="Calibri"/>
              </a:rPr>
              <a:t>Objective 2 (current):</a:t>
            </a:r>
            <a:br/>
            <a:r>
              <a:rPr sz="1200" b="0">
                <a:solidFill>
                  <a:srgbClr val="333333"/>
                </a:solidFill>
                <a:latin typeface="Calibri"/>
              </a:rPr>
              <a:t>To do biophysical characterization of scFv mutants which performed better in vivo as well as in vitro.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3291840"/>
          <a:ext cx="1146017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375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Binary question; "yes" already answered by Liu 2015, Caruso 2015, Drent 2019, Ghorashian 2019, He 2023, Mao 2022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DAC will ask: what's the open question?</a:t>
                      </a:r>
                    </a:p>
                  </a:txBody>
                  <a:tcPr marL="45720" marR="45720" marT="27432" marB="27432"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"Amplitude of CAR-T signal" ambiguous (proximal? effector? exhaustion?)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Objective should specify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Q1↔O1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 asks signal; O measures efficacy. "Efficacy" undefined.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Mismatch + vagueness</a:t>
                      </a:r>
                    </a:p>
                  </a:txBody>
                  <a:tcPr marL="45720" marR="45720" marT="27432" marB="27432"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Doesn't reflect what's measured (activation, exhaustion, memory, antigen density, NGS readout)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Plan ≠ stated objective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Mao 2022 (PMID 36325345) already identifies clinical optimal 10–60 nM window; Ghorashian 2019 showed low-affinity wins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Novelty must be reframed</a:t>
                      </a:r>
                    </a:p>
                  </a:txBody>
                  <a:tcPr marL="45720" marR="45720" marT="27432" marB="27432"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Misses dwell time / koff axis, 2D kinetics, catch bonds — the genuine novelty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These are unprecedented for any CAR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"Mutants which performed better" — circular; biophysics IS what defines the window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Logical sequence problem</a:t>
                      </a:r>
                    </a:p>
                  </a:txBody>
                  <a:tcPr marL="45720" marR="45720" marT="27432" marB="27432"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Should span full functional spectrum (incl. underperformers) to define a window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Otherwise it's just a hit list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19 §1, §2.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Aims &amp; Objectives — reformulated + 4-aim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Reframes Q1/Q2 as quantitative mapping problems; surfaces computational + memory + 2D kinetics novelty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365760"/>
            <a:ext cx="5669280" cy="21945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Q1 (reformulated):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How does FMC63 scFv binding affinity quantitatively shape CAR-T activation, effector function, exhaustion, and memory formation, and does this depend on antigen density?</a:t>
            </a:r>
            <a:br/>
            <a:br/>
            <a:r>
              <a:rPr sz="1100" b="1">
                <a:solidFill>
                  <a:srgbClr val="FFFFFF"/>
                </a:solidFill>
                <a:latin typeface="Calibri"/>
              </a:rPr>
              <a:t>Objective 1: Map activation kinetics, exhaustion trajectory, cytotoxic function, and memory across the variant library in NALM-6 (graded CD19) + NSG xenograft, sort-then-NGS readout.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6126480"/>
            <a:ext cx="5669280" cy="21945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Q2 (reformulated):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Which kinetic parameter (KD, kon, koff, dwell time, 2D koff, catch-bond lifetime) best predicts CAR-T function, and what is the optimal kinetic window?</a:t>
            </a:r>
            <a:br/>
            <a:br/>
            <a:r>
              <a:rPr sz="1100" b="1">
                <a:solidFill>
                  <a:srgbClr val="FFFFFF"/>
                </a:solidFill>
                <a:latin typeface="Calibri"/>
              </a:rPr>
              <a:t>Objective 2: Characterize a panel spanning the full functional spectrum by SPR (3D) + 2D micropipette adhesion frequency (novel for any CAR). Statistically correlate kinetic parameters with functional readouts.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3749039"/>
          <a:ext cx="1146017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Aim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Maps to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Library design + computational validation (PDB 7URV, mCSM-AB2; NNK at S214, Trp212, Y260, Y261)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Already done</a:t>
                      </a:r>
                    </a:p>
                  </a:txBody>
                  <a:tcPr marL="45720" marR="45720" marT="27432" marB="27432"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Functional mapping in vitro + in vivo (activation/exhaustion/memory across library; sort-then-NGS)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Q1 / Obj 1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Biophysical characterization + kinetic-functional correlation (SPR + 2D adhesion frequency)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Q2 / Obj 2</a:t>
                      </a:r>
                    </a:p>
                  </a:txBody>
                  <a:tcPr marL="45720" marR="45720" marT="27432" marB="27432"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 (optional)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Translational validation (primary T cells; NSG-MHC-DKO persistence + memory recall)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Stretch goal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5943600"/>
            <a:ext cx="11460175" cy="77724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Pitch: "First systematic dataset linking ~376 FMC63 variants to full functional matrix (activation/exhaustion/memory/persistence) and multi-parameter kinetic dataset (3D + 2D + force-dependent), defining the kinetic-function relationship for anti-CD19 CAR-T therapy."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19 §3, §4, §6.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Summary — prioritized recommendations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411480"/>
          <a:ext cx="113687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578"/>
                <a:gridCol w="3789578"/>
                <a:gridCol w="3789579"/>
              </a:tblGrid>
              <a:tr h="3722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Recommended change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Citation: "Singh 2023"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Correct to He et al. 2023 across all repo documents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Sampling timing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Day 1, 2, 4 = activation/exhaustion (correct). Memory pool from terminal sacrifice (post-rest)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"Humanized mouse"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Use NSG (or NSG-MHC-DKO if rest &gt;4 wk); not PBMC-humanized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Pre-injection library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Sequence plasmid + infusion product as reference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CD19 "HEK293S"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Switch to Expi293F + SF-CD19 (Laurent 2021)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Library tracking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DNA-barcode the library (or confirm single-amplicon coverage)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MOI control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MOI ≤ 0.3; sort low-MFI singlets; qPCR VCN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CD19-KO NALM-6 control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Add as antigen-escape internal control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Mouse 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 ≥ 5 per arm; pre-registered mixed-effects model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Fab orthogonal SPR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Top 3 mutants — eliminates diabody artifact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Octet/BLI triage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Add before Biacore commitment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2D / BFP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External collaboration; top 2-3 mutants only; defer BFP to Phase 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Pooled in vivo vs in vitro + arrayed in vivo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Consider safer alternative if scope is too ambitious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§7. Full master reference list: doc 18 §9.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Verified references (PubMed-confirmed)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455767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Brehm MA et al. NSG-MHC-DKO no xeno-GvHD. FASEB J 33:3137-51, 2019. PMID 30383447.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Brentjens RJ et al. NALM-6 SCID-Beige original. Nat Med 9:279-86, 2003. PMID 12579196.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Brentjens RJ et al. FMC63 19-28z preclinical. Clin Cancer Res 13:5426-35, 2007. PMID 17855649.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Chesla SE, Selvaraj P, Zhu C. 2D adhesion frequency assay origin. Biophys J 75:1553-72, 1998. PMID 9726957.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Drent E et al. Combined CD28+4-1BB affinity-tuned CARs. Clin Cancer Res 25:4014-25, 2019. PMID 30979735.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Eyquem J et al. TRAC knock-in CAR-T. Nature 543:113-7, 2017. PMID 28225754.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Gattinoni L et al. Tscm definition (CD95+). Nat Med 17:1290-7, 2011. PMID 21926977.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He C et al. CD19 CAR engagement / PDB 7URV / KD 4.5 nM. Sci Immunol 8:eadf1426, 2023. PMID 36867678. (NOT Singh)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Huang J et al. 2D TCR-pMHC kinetics. Nature 464:932-6, 2010. PMID 20357766.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Kivioja T et al. UMIs. Nat Methods 9:72-4, 2011. PMID 22101854.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Laurent E et al. SF-CD19 stabilized monomer. ACS Synth Biol 10:1184-98, 2021. PMID 33843201.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Li W et al. MAGeCK. Genome Biol 15:554, 2014. PMID 25476604.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Liu B et al. TCR catch bonds (BFP). Cell 157:357-68, 2014. PMID 24725404.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Long AH et al. 4-1BB ameliorates CAR-T tonic exhaustion. Nat Med 21:581-90, 2015. PMID 25939063.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914400"/>
            <a:ext cx="5455767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Mackay LK et al. CD8 Trm pathway. Nat Immunol 14:1294-301, 2013. PMID 24162776.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Majzner RG et al. CD19 antigen density threshold. Cancer Discov 10:702-23, 2020. PMID 32193224.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Milone MC et al. 4-1BB CAR + NALM-6 NSG. Mol Ther 17:1453-64, 2009. PMID 19384291.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Nicholson IC et al. Original FMC63 scFv. Mol Immunol 34:1157-65, 1997. PMID 9566763.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Reeves PJ et al. HEK293S GnTI- origin. PNAS 99:13419-24, 2002. PMID 12370423.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Roth TL et al. Non-viral CRISPR T-cell. Nature 559:405-9, 2018. PMID 30022017.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Sabatino M et al. Clinical-grade CD19 CAR Tscm. Blood 128:519-28, 2016. PMID 27226436.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Sallusto F et al. Tcm/Tem original definition. Nature 401:708-12, 1999. PMID 10537110.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Seigner J et al. FMC63-CD19 KD = 5.1 nM. Sci Rep 13:23024, 2023. PMID 38155191.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Shultz LD et al. Humanized mouse review. Nat Rev Immunol 12:786-98, 2012. PMID 23059428.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Sotillo E et al. CD19 antigen escape. Cancer Discov 5:1282-95, 2015. PMID 26583447.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Wunderlich M et al. NSGS reconstitution. PLoS One 13:e0209034, 2018. PMID 30586420.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Xu Y et al. Tscm correlate with CAR-T persistence. Blood 123:3750-9, 2014. PMID 24782509.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All PMIDs directly verified against PubMed during preparation of doc 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